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9EC3B35-B994-5C90-6DBB-0F10B0A03B06}">
          <p14:sldIdLst>
            <p14:sldId id="256"/>
            <p14:sldId id="257"/>
            <p14:sldId id="258"/>
          </p14:sldIdLst>
        </p14:section>
        <p14:section name="Half Adder" id="{4CA0C841-60B9-DC78-1873-C0715A0CD571}">
          <p14:sldIdLst>
            <p14:sldId id="259"/>
            <p14:sldId id="260"/>
            <p14:sldId id="261"/>
          </p14:sldIdLst>
        </p14:section>
        <p14:section name="Full Adder" id="{97A62786-9144-2134-F54F-F391FA612B7B}">
          <p14:sldIdLst>
            <p14:sldId id="262"/>
            <p14:sldId id="263"/>
            <p14:sldId id="264"/>
          </p14:sldIdLst>
        </p14:section>
        <p14:section name="Results" id="{48B5265C-2DD4-C119-3367-3C605B656862}">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1961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designs a Half Adder and a Full Adder and verifies them by simulation in Logisim. The graphic on the right shows the idea in one picture: adding 1 + 1 gives Sum 0 and Carry 1, i.e. binary 10.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adder is a combinational circuit built from logic gates. Every arithmetic operation in a processor depends on binary addition. The flow at the bottom is the whole story of this project: binary inputs go through logic gates and produce a sum and a carry.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has only two digits. 0+0, 0+1 and 1+0 are straightforward. 1+1 equals 2, which is written 10 in binary: a 0 stays in this column (the Sum) and a 1 moves to the next column (the Carry).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half adder has two inputs, A and B, and two outputs, Sum and Carry. Sum is the XOR of the inputs and Carry is the AND of the inputs. No carry-in exists, which is why it is called half.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row by row. Sum is high when exactly one input is high. Carry is high only in the last row, 1 + 1. The waveform on the right shows the same four rows as digital signals; the amber band marks the only case that produces a carry.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construction in Logisim. Place two input pins and two output pins, add an XOR gate and an AND gate from the Gates library, then wire both inputs to both gates. The XOR output drives Sum and the AND output drives Carry.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adder adds a third input, the carry-in, so adders can be chained for multi-bit numbers. Internally it is two half adders plus an OR gate: the first half adder adds A and B, the second adds that result to Cin, and the OR gate merges the two carries.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adder simply counts how many of its three inputs are 1 and writes that count in binary: Cout is the upper bit and Sum is the lower bit. For example, two ones give binary 10, so Cout is 1 and Sum is 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adder is built from the half adder. Two XOR and two AND gates form the two half adders, and an OR gate combines their carry outputs. The dashed boxes in the circuit mark each half adder.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Poke tool to toggle the input pins. In Logisim a bright green wire carries logic 1 and a dark wire carries logic 0. Step through all four half adder and all eight full adder input combinations and compare each result with the truth tables. Project &gt; Analyze Circuit can also generate the truth table and expression for a cross-check.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half adder is enough for the lowest bit, but every higher bit needs a carry-in, so a full adder is used. Chaining full adders gives a ripple-carry adder, the simplest multi-bit adder. Applications include the ALU, counters, address calculation and signal processing.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half adder adds two bits, the full adder adds two bits plus a carry-in, and Logisim lets us build and verify both visually.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600200"/>
            <a:ext cx="6492240" cy="22402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3931920"/>
            <a:ext cx="6492240" cy="457200"/>
          </a:xfrm>
          <a:prstGeom prst="rect">
            <a:avLst/>
          </a:prstGeom>
          <a:noFill/>
          <a:ln/>
        </p:spPr>
        <p:txBody>
          <a:bodyPr wrap="square" rtlCol="0"/>
          <a:lstStyle>
            <a:lvl1pPr marL="0" indent="0" algn="l">
              <a:buNone/>
              <a:defRPr lang="en-US" sz="2200" dirty="0">
                <a:solidFill>
                  <a:schemeClr val="accent1"/>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960120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kern="0" spc="200" dirty="0">
                <a:solidFill>
                  <a:schemeClr val="bg2"/>
                </a:solidFill>
              </a:rPr>
              <a:t>HALF ADDER &amp; FULL ADDER  ·  LOGISIM SIMULATION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85216" y="548640"/>
            <a:ext cx="8229600" cy="8229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roject tag"/>
          <p:cNvSpPr txBox="1"/>
          <p:nvPr/>
        </p:nvSpPr>
        <p:spPr>
          <a:xfrm>
            <a:off x="640080" y="1097280"/>
            <a:ext cx="64008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DIGITAL ELECTRONICS  ·  MINI PROJECT</a:t>
            </a:r>
            <a:endParaRPr lang="en-US" sz="1200" dirty="0"/>
          </a:p>
        </p:txBody>
      </p:sp>
      <p:sp>
        <p:nvSpPr>
          <p:cNvPr id="3" name="Text 0"/>
          <p:cNvSpPr>
            <a:spLocks noGrp="1"/>
          </p:cNvSpPr>
          <p:nvPr>
            <p:ph type="title" idx="100" hasCustomPrompt="1"/>
          </p:nvPr>
        </p:nvSpPr>
        <p:spPr>
          <a:xfrm>
            <a:off x="640080" y="1600200"/>
            <a:ext cx="6492240" cy="2240280"/>
          </a:xfrm>
          <a:prstGeom prst="rect">
            <a:avLst/>
          </a:prstGeom>
          <a:noFill/>
          <a:ln/>
        </p:spPr>
        <p:txBody>
          <a:bodyPr wrap="square" lIns="0" tIns="0" rIns="0" bIns="0" rtlCol="0" anchor="t"/>
          <a:lstStyle/>
          <a:p>
            <a:pPr marL="0" indent="0" algn="l">
              <a:buNone/>
            </a:pPr>
            <a:r>
              <a:rPr lang="en-US" sz="4000" b="1" dirty="0">
                <a:solidFill>
                  <a:schemeClr val="bg1"/>
                </a:solidFill>
              </a:rPr>
              <a:t>Design and Simulation of Half Adder and Full Adder Using Logisim</a:t>
            </a:r>
            <a:endParaRPr lang="en-US" sz="4000" dirty="0"/>
          </a:p>
        </p:txBody>
      </p:sp>
      <p:sp>
        <p:nvSpPr>
          <p:cNvPr id="4" name="Text 0"/>
          <p:cNvSpPr>
            <a:spLocks noGrp="1"/>
          </p:cNvSpPr>
          <p:nvPr>
            <p:ph type="body" idx="101" hasCustomPrompt="1"/>
          </p:nvPr>
        </p:nvSpPr>
        <p:spPr>
          <a:xfrm>
            <a:off x="640080" y="3931920"/>
            <a:ext cx="6492240" cy="457200"/>
          </a:xfrm>
          <a:prstGeom prst="rect">
            <a:avLst/>
          </a:prstGeom>
          <a:noFill/>
          <a:ln/>
        </p:spPr>
        <p:txBody>
          <a:bodyPr wrap="square" lIns="0" tIns="0" rIns="0" bIns="0" rtlCol="0" anchor="t"/>
          <a:lstStyle/>
          <a:p>
            <a:pPr marL="0" indent="0" algn="l">
              <a:buNone/>
            </a:pPr>
            <a:r>
              <a:rPr lang="en-US" sz="2200" dirty="0">
                <a:solidFill>
                  <a:schemeClr val="accent1"/>
                </a:solidFill>
              </a:rPr>
              <a:t>Digital Logic Design &amp; Simulation</a:t>
            </a:r>
            <a:endParaRPr lang="en-US" sz="2200" dirty="0"/>
          </a:p>
        </p:txBody>
      </p:sp>
      <p:sp>
        <p:nvSpPr>
          <p:cNvPr id="5" name="Team label"/>
          <p:cNvSpPr txBox="1"/>
          <p:nvPr/>
        </p:nvSpPr>
        <p:spPr>
          <a:xfrm>
            <a:off x="640080" y="4862649"/>
            <a:ext cx="5486400" cy="256032"/>
          </a:xfrm>
          <a:prstGeom prst="rect">
            <a:avLst/>
          </a:prstGeom>
          <a:noFill/>
          <a:ln/>
        </p:spPr>
        <p:txBody>
          <a:bodyPr wrap="square" lIns="0" tIns="0" rIns="0" bIns="0" rtlCol="0" anchor="t"/>
          <a:lstStyle/>
          <a:p>
            <a:pPr marL="0" indent="0">
              <a:buNone/>
            </a:pPr>
            <a:r>
              <a:rPr lang="en-US" sz="1100" b="1" kern="0" spc="300" dirty="0">
                <a:solidFill>
                  <a:schemeClr val="accent1"/>
                </a:solidFill>
              </a:rPr>
              <a:t>TEAM MEMBERS</a:t>
            </a:r>
            <a:endParaRPr lang="en-US" sz="1100" dirty="0"/>
          </a:p>
        </p:txBody>
      </p:sp>
      <p:sp>
        <p:nvSpPr>
          <p:cNvPr id="6" name="Team names"/>
          <p:cNvSpPr txBox="1"/>
          <p:nvPr/>
        </p:nvSpPr>
        <p:spPr>
          <a:xfrm>
            <a:off x="756556" y="5138928"/>
            <a:ext cx="6284323" cy="320040"/>
          </a:xfrm>
          <a:prstGeom prst="rect">
            <a:avLst/>
          </a:prstGeom>
          <a:noFill/>
          <a:ln/>
        </p:spPr>
        <p:txBody>
          <a:bodyPr wrap="square" lIns="0" tIns="0" rIns="0" bIns="0" rtlCol="0" anchor="t"/>
          <a:lstStyle/>
          <a:p>
            <a:pPr marL="0" indent="0">
              <a:buNone/>
            </a:pPr>
            <a:r>
              <a:rPr lang="en-US" sz="1500" b="1" dirty="0">
                <a:solidFill>
                  <a:schemeClr val="bg1"/>
                </a:solidFill>
              </a:rPr>
              <a:t>suhas-2620030216</a:t>
            </a:r>
          </a:p>
          <a:p>
            <a:pPr marL="0" indent="0">
              <a:buNone/>
            </a:pPr>
            <a:r>
              <a:rPr lang="en-US" sz="1500" b="1" dirty="0">
                <a:solidFill>
                  <a:schemeClr val="bg1"/>
                </a:solidFill>
              </a:rPr>
              <a:t>Samiksh-2620030094</a:t>
            </a:r>
          </a:p>
          <a:p>
            <a:pPr marL="0" indent="0">
              <a:buNone/>
            </a:pPr>
            <a:r>
              <a:rPr lang="en-US" sz="1500" b="1" dirty="0">
                <a:solidFill>
                  <a:schemeClr val="bg1"/>
                </a:solidFill>
              </a:rPr>
              <a:t>Vardhan-2620030095</a:t>
            </a:r>
          </a:p>
          <a:p>
            <a:pPr marL="0" indent="0">
              <a:buNone/>
            </a:pPr>
            <a:r>
              <a:rPr lang="en-US" sz="1500" b="1" dirty="0">
                <a:solidFill>
                  <a:schemeClr val="bg1"/>
                </a:solidFill>
              </a:rPr>
              <a:t>Akhilesh-2620080108  </a:t>
            </a:r>
            <a:endParaRPr lang="en-US" sz="1500" dirty="0"/>
          </a:p>
        </p:txBody>
      </p:sp>
      <p:pic>
        <p:nvPicPr>
          <p:cNvPr id="8" name="Logisim-style gate graphic" descr="XOR and AND gates adding 1 + 1 = 10"/>
          <p:cNvPicPr>
            <a:picLocks noChangeAspect="1"/>
          </p:cNvPicPr>
          <p:nvPr/>
        </p:nvPicPr>
        <p:blipFill>
          <a:blip r:embed="rId3"/>
          <a:stretch>
            <a:fillRect/>
          </a:stretch>
        </p:blipFill>
        <p:spPr>
          <a:xfrm>
            <a:off x="7269480" y="594360"/>
            <a:ext cx="4754880" cy="564642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label"/>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100" b="1" kern="0" spc="300" dirty="0">
                <a:solidFill>
                  <a:schemeClr val="accent1"/>
                </a:solidFill>
              </a:rPr>
              <a:t>INTRODUCTION</a:t>
            </a:r>
            <a:endParaRPr lang="en-US" sz="1100" dirty="0"/>
          </a:p>
        </p:txBody>
      </p:sp>
      <p:sp>
        <p:nvSpPr>
          <p:cNvPr id="3" name="Text 0"/>
          <p:cNvSpPr>
            <a:spLocks noGrp="1"/>
          </p:cNvSpPr>
          <p:nvPr>
            <p:ph type="title" idx="100" hasCustomPrompt="1"/>
          </p:nvPr>
        </p:nvSpPr>
        <p:spPr>
          <a:xfrm>
            <a:off x="548640" y="566928"/>
            <a:ext cx="9601200" cy="731520"/>
          </a:xfrm>
          <a:prstGeom prst="rect">
            <a:avLst/>
          </a:prstGeom>
          <a:noFill/>
          <a:ln/>
        </p:spPr>
        <p:txBody>
          <a:bodyPr wrap="square" lIns="0" tIns="0" rIns="0" bIns="0" rtlCol="0" anchor="ctr"/>
          <a:lstStyle/>
          <a:p>
            <a:pPr marL="0" indent="0" algn="l">
              <a:buNone/>
            </a:pPr>
            <a:r>
              <a:rPr lang="en-US" sz="3400" b="1" dirty="0">
                <a:solidFill>
                  <a:schemeClr val="bg1"/>
                </a:solidFill>
              </a:rPr>
              <a:t>What is a Digital Adder?</a:t>
            </a:r>
            <a:endParaRPr lang="en-US" sz="3400" dirty="0"/>
          </a:p>
        </p:txBody>
      </p:sp>
      <p:sp>
        <p:nvSpPr>
          <p:cNvPr id="4" name="Concept card 1"/>
          <p:cNvSpPr/>
          <p:nvPr/>
        </p:nvSpPr>
        <p:spPr>
          <a:xfrm>
            <a:off x="548640" y="1508760"/>
            <a:ext cx="5349240" cy="1417320"/>
          </a:xfrm>
          <a:prstGeom prst="roundRect">
            <a:avLst>
              <a:gd name="adj" fmla="val 7742"/>
            </a:avLst>
          </a:prstGeom>
          <a:solidFill>
            <a:schemeClr val="tx2">
              <a:alpha val="85000"/>
            </a:schemeClr>
          </a:solidFill>
          <a:ln w="9525">
            <a:solidFill>
              <a:schemeClr val="accent1">
                <a:alpha val="40000"/>
              </a:schemeClr>
            </a:solidFill>
            <a:prstDash val="solid"/>
          </a:ln>
        </p:spPr>
      </p:sp>
      <p:sp>
        <p:nvSpPr>
          <p:cNvPr id="5" name="Icon 1 circle"/>
          <p:cNvSpPr/>
          <p:nvPr/>
        </p:nvSpPr>
        <p:spPr>
          <a:xfrm>
            <a:off x="822960" y="1856232"/>
            <a:ext cx="731520" cy="731520"/>
          </a:xfrm>
          <a:prstGeom prst="ellipse">
            <a:avLst/>
          </a:prstGeom>
          <a:solidFill>
            <a:schemeClr val="tx1"/>
          </a:solidFill>
          <a:ln w="15875">
            <a:solidFill>
              <a:schemeClr val="accent1"/>
            </a:solidFill>
            <a:prstDash val="solid"/>
          </a:ln>
        </p:spPr>
      </p:sp>
      <p:pic>
        <p:nvPicPr>
          <p:cNvPr id="6" name="Icon 1" descr="Icon 1"/>
          <p:cNvPicPr>
            <a:picLocks noChangeAspect="1"/>
          </p:cNvPicPr>
          <p:nvPr/>
        </p:nvPicPr>
        <p:blipFill>
          <a:blip r:embed="rId3"/>
          <a:stretch>
            <a:fillRect/>
          </a:stretch>
        </p:blipFill>
        <p:spPr>
          <a:xfrm>
            <a:off x="1020470" y="2053742"/>
            <a:ext cx="336499" cy="336499"/>
          </a:xfrm>
          <a:prstGeom prst="rect">
            <a:avLst/>
          </a:prstGeom>
        </p:spPr>
      </p:pic>
      <p:sp>
        <p:nvSpPr>
          <p:cNvPr id="7" name="Concept title 1"/>
          <p:cNvSpPr txBox="1"/>
          <p:nvPr/>
        </p:nvSpPr>
        <p:spPr>
          <a:xfrm>
            <a:off x="1828800" y="1764792"/>
            <a:ext cx="3840480" cy="365760"/>
          </a:xfrm>
          <a:prstGeom prst="rect">
            <a:avLst/>
          </a:prstGeom>
          <a:noFill/>
          <a:ln/>
        </p:spPr>
        <p:txBody>
          <a:bodyPr wrap="square" lIns="0" tIns="0" rIns="0" bIns="0" rtlCol="0" anchor="t"/>
          <a:lstStyle/>
          <a:p>
            <a:pPr marL="0" indent="0">
              <a:buNone/>
            </a:pPr>
            <a:r>
              <a:rPr lang="en-US" sz="2000" b="1" dirty="0">
                <a:solidFill>
                  <a:schemeClr val="bg1"/>
                </a:solidFill>
              </a:rPr>
              <a:t>Digital adder</a:t>
            </a:r>
            <a:endParaRPr lang="en-US" sz="2000" dirty="0"/>
          </a:p>
        </p:txBody>
      </p:sp>
      <p:sp>
        <p:nvSpPr>
          <p:cNvPr id="8" name="Concept text 1"/>
          <p:cNvSpPr txBox="1"/>
          <p:nvPr/>
        </p:nvSpPr>
        <p:spPr>
          <a:xfrm>
            <a:off x="1828800" y="2185416"/>
            <a:ext cx="3886200" cy="640080"/>
          </a:xfrm>
          <a:prstGeom prst="rect">
            <a:avLst/>
          </a:prstGeom>
          <a:noFill/>
          <a:ln/>
        </p:spPr>
        <p:txBody>
          <a:bodyPr wrap="square" lIns="0" tIns="0" rIns="0" bIns="0" rtlCol="0" anchor="t"/>
          <a:lstStyle/>
          <a:p>
            <a:pPr marL="0" indent="0">
              <a:buNone/>
            </a:pPr>
            <a:r>
              <a:rPr lang="en-US" sz="1500" dirty="0">
                <a:solidFill>
                  <a:schemeClr val="bg2"/>
                </a:solidFill>
              </a:rPr>
              <a:t>A combinational circuit that adds binary numbers using logic gates.</a:t>
            </a:r>
            <a:endParaRPr lang="en-US" sz="1500" dirty="0"/>
          </a:p>
        </p:txBody>
      </p:sp>
      <p:sp>
        <p:nvSpPr>
          <p:cNvPr id="9" name="Concept card 2"/>
          <p:cNvSpPr/>
          <p:nvPr/>
        </p:nvSpPr>
        <p:spPr>
          <a:xfrm>
            <a:off x="6263640" y="1508760"/>
            <a:ext cx="5349240" cy="1417320"/>
          </a:xfrm>
          <a:prstGeom prst="roundRect">
            <a:avLst>
              <a:gd name="adj" fmla="val 7742"/>
            </a:avLst>
          </a:prstGeom>
          <a:solidFill>
            <a:schemeClr val="tx2">
              <a:alpha val="85000"/>
            </a:schemeClr>
          </a:solidFill>
          <a:ln w="9525">
            <a:solidFill>
              <a:schemeClr val="accent1">
                <a:alpha val="40000"/>
              </a:schemeClr>
            </a:solidFill>
            <a:prstDash val="solid"/>
          </a:ln>
        </p:spPr>
      </p:sp>
      <p:sp>
        <p:nvSpPr>
          <p:cNvPr id="10" name="Icon 2 circle"/>
          <p:cNvSpPr/>
          <p:nvPr/>
        </p:nvSpPr>
        <p:spPr>
          <a:xfrm>
            <a:off x="6537960" y="1856232"/>
            <a:ext cx="731520" cy="731520"/>
          </a:xfrm>
          <a:prstGeom prst="ellipse">
            <a:avLst/>
          </a:prstGeom>
          <a:solidFill>
            <a:schemeClr val="tx1"/>
          </a:solidFill>
          <a:ln w="15875">
            <a:solidFill>
              <a:schemeClr val="accent1"/>
            </a:solidFill>
            <a:prstDash val="solid"/>
          </a:ln>
        </p:spPr>
      </p:sp>
      <p:pic>
        <p:nvPicPr>
          <p:cNvPr id="11" name="Icon 2" descr="Icon 2"/>
          <p:cNvPicPr>
            <a:picLocks noChangeAspect="1"/>
          </p:cNvPicPr>
          <p:nvPr/>
        </p:nvPicPr>
        <p:blipFill>
          <a:blip r:embed="rId4"/>
          <a:stretch>
            <a:fillRect/>
          </a:stretch>
        </p:blipFill>
        <p:spPr>
          <a:xfrm>
            <a:off x="6735470" y="2053742"/>
            <a:ext cx="336499" cy="336499"/>
          </a:xfrm>
          <a:prstGeom prst="rect">
            <a:avLst/>
          </a:prstGeom>
        </p:spPr>
      </p:pic>
      <p:sp>
        <p:nvSpPr>
          <p:cNvPr id="12" name="Concept title 2"/>
          <p:cNvSpPr txBox="1"/>
          <p:nvPr/>
        </p:nvSpPr>
        <p:spPr>
          <a:xfrm>
            <a:off x="7543800" y="1764792"/>
            <a:ext cx="3840480" cy="365760"/>
          </a:xfrm>
          <a:prstGeom prst="rect">
            <a:avLst/>
          </a:prstGeom>
          <a:noFill/>
          <a:ln/>
        </p:spPr>
        <p:txBody>
          <a:bodyPr wrap="square" lIns="0" tIns="0" rIns="0" bIns="0" rtlCol="0" anchor="t"/>
          <a:lstStyle/>
          <a:p>
            <a:pPr marL="0" indent="0">
              <a:buNone/>
            </a:pPr>
            <a:r>
              <a:rPr lang="en-US" sz="2000" b="1" dirty="0">
                <a:solidFill>
                  <a:schemeClr val="bg1"/>
                </a:solidFill>
              </a:rPr>
              <a:t>Why binary addition matters</a:t>
            </a:r>
            <a:endParaRPr lang="en-US" sz="2000" dirty="0"/>
          </a:p>
        </p:txBody>
      </p:sp>
      <p:sp>
        <p:nvSpPr>
          <p:cNvPr id="13" name="Concept text 2"/>
          <p:cNvSpPr txBox="1"/>
          <p:nvPr/>
        </p:nvSpPr>
        <p:spPr>
          <a:xfrm>
            <a:off x="7543800" y="2185416"/>
            <a:ext cx="3886200" cy="640080"/>
          </a:xfrm>
          <a:prstGeom prst="rect">
            <a:avLst/>
          </a:prstGeom>
          <a:noFill/>
          <a:ln/>
        </p:spPr>
        <p:txBody>
          <a:bodyPr wrap="square" lIns="0" tIns="0" rIns="0" bIns="0" rtlCol="0" anchor="t"/>
          <a:lstStyle/>
          <a:p>
            <a:pPr marL="0" indent="0">
              <a:buNone/>
            </a:pPr>
            <a:r>
              <a:rPr lang="en-US" sz="1500" dirty="0">
                <a:solidFill>
                  <a:schemeClr val="bg2"/>
                </a:solidFill>
              </a:rPr>
              <a:t>Subtraction, multiplication and comparison all reduce to adding bits.</a:t>
            </a:r>
            <a:endParaRPr lang="en-US" sz="1500" dirty="0"/>
          </a:p>
        </p:txBody>
      </p:sp>
      <p:sp>
        <p:nvSpPr>
          <p:cNvPr id="14" name="Concept card 3"/>
          <p:cNvSpPr/>
          <p:nvPr/>
        </p:nvSpPr>
        <p:spPr>
          <a:xfrm>
            <a:off x="548640" y="3108960"/>
            <a:ext cx="5349240" cy="1417320"/>
          </a:xfrm>
          <a:prstGeom prst="roundRect">
            <a:avLst>
              <a:gd name="adj" fmla="val 7742"/>
            </a:avLst>
          </a:prstGeom>
          <a:solidFill>
            <a:schemeClr val="tx2">
              <a:alpha val="85000"/>
            </a:schemeClr>
          </a:solidFill>
          <a:ln w="9525">
            <a:solidFill>
              <a:schemeClr val="accent1">
                <a:alpha val="40000"/>
              </a:schemeClr>
            </a:solidFill>
            <a:prstDash val="solid"/>
          </a:ln>
        </p:spPr>
      </p:sp>
      <p:sp>
        <p:nvSpPr>
          <p:cNvPr id="15" name="Icon 3 circle"/>
          <p:cNvSpPr/>
          <p:nvPr/>
        </p:nvSpPr>
        <p:spPr>
          <a:xfrm>
            <a:off x="822960" y="3456432"/>
            <a:ext cx="731520" cy="731520"/>
          </a:xfrm>
          <a:prstGeom prst="ellipse">
            <a:avLst/>
          </a:prstGeom>
          <a:solidFill>
            <a:schemeClr val="tx1"/>
          </a:solidFill>
          <a:ln w="15875">
            <a:solidFill>
              <a:schemeClr val="accent1"/>
            </a:solidFill>
            <a:prstDash val="solid"/>
          </a:ln>
        </p:spPr>
      </p:sp>
      <p:pic>
        <p:nvPicPr>
          <p:cNvPr id="16" name="Icon 3" descr="Icon 3"/>
          <p:cNvPicPr>
            <a:picLocks noChangeAspect="1"/>
          </p:cNvPicPr>
          <p:nvPr/>
        </p:nvPicPr>
        <p:blipFill>
          <a:blip r:embed="rId5"/>
          <a:stretch>
            <a:fillRect/>
          </a:stretch>
        </p:blipFill>
        <p:spPr>
          <a:xfrm>
            <a:off x="1020470" y="3653942"/>
            <a:ext cx="336499" cy="336499"/>
          </a:xfrm>
          <a:prstGeom prst="rect">
            <a:avLst/>
          </a:prstGeom>
        </p:spPr>
      </p:pic>
      <p:sp>
        <p:nvSpPr>
          <p:cNvPr id="17" name="Concept title 3"/>
          <p:cNvSpPr txBox="1"/>
          <p:nvPr/>
        </p:nvSpPr>
        <p:spPr>
          <a:xfrm>
            <a:off x="1828800" y="3364992"/>
            <a:ext cx="3840480" cy="365760"/>
          </a:xfrm>
          <a:prstGeom prst="rect">
            <a:avLst/>
          </a:prstGeom>
          <a:noFill/>
          <a:ln/>
        </p:spPr>
        <p:txBody>
          <a:bodyPr wrap="square" lIns="0" tIns="0" rIns="0" bIns="0" rtlCol="0" anchor="t"/>
          <a:lstStyle/>
          <a:p>
            <a:pPr marL="0" indent="0">
              <a:buNone/>
            </a:pPr>
            <a:r>
              <a:rPr lang="en-US" sz="2000" b="1" dirty="0">
                <a:solidFill>
                  <a:schemeClr val="bg1"/>
                </a:solidFill>
              </a:rPr>
              <a:t>Role in computers</a:t>
            </a:r>
            <a:endParaRPr lang="en-US" sz="2000" dirty="0"/>
          </a:p>
        </p:txBody>
      </p:sp>
      <p:sp>
        <p:nvSpPr>
          <p:cNvPr id="18" name="Concept text 3"/>
          <p:cNvSpPr txBox="1"/>
          <p:nvPr/>
        </p:nvSpPr>
        <p:spPr>
          <a:xfrm>
            <a:off x="1828800" y="3785616"/>
            <a:ext cx="3886200" cy="640080"/>
          </a:xfrm>
          <a:prstGeom prst="rect">
            <a:avLst/>
          </a:prstGeom>
          <a:noFill/>
          <a:ln/>
        </p:spPr>
        <p:txBody>
          <a:bodyPr wrap="square" lIns="0" tIns="0" rIns="0" bIns="0" rtlCol="0" anchor="t"/>
          <a:lstStyle/>
          <a:p>
            <a:pPr marL="0" indent="0">
              <a:buNone/>
            </a:pPr>
            <a:r>
              <a:rPr lang="en-US" sz="1500" dirty="0">
                <a:solidFill>
                  <a:schemeClr val="bg2"/>
                </a:solidFill>
              </a:rPr>
              <a:t>Adders sit inside the ALU, counters and memory-address logic.</a:t>
            </a:r>
            <a:endParaRPr lang="en-US" sz="1500" dirty="0"/>
          </a:p>
        </p:txBody>
      </p:sp>
      <p:sp>
        <p:nvSpPr>
          <p:cNvPr id="19" name="Concept card 4"/>
          <p:cNvSpPr/>
          <p:nvPr/>
        </p:nvSpPr>
        <p:spPr>
          <a:xfrm>
            <a:off x="6263640" y="3108960"/>
            <a:ext cx="5349240" cy="1417320"/>
          </a:xfrm>
          <a:prstGeom prst="roundRect">
            <a:avLst>
              <a:gd name="adj" fmla="val 7742"/>
            </a:avLst>
          </a:prstGeom>
          <a:solidFill>
            <a:schemeClr val="tx2">
              <a:alpha val="85000"/>
            </a:schemeClr>
          </a:solidFill>
          <a:ln w="9525">
            <a:solidFill>
              <a:schemeClr val="accent1">
                <a:alpha val="40000"/>
              </a:schemeClr>
            </a:solidFill>
            <a:prstDash val="solid"/>
          </a:ln>
        </p:spPr>
      </p:sp>
      <p:sp>
        <p:nvSpPr>
          <p:cNvPr id="20" name="Icon 4 circle"/>
          <p:cNvSpPr/>
          <p:nvPr/>
        </p:nvSpPr>
        <p:spPr>
          <a:xfrm>
            <a:off x="6537960" y="3456432"/>
            <a:ext cx="731520" cy="731520"/>
          </a:xfrm>
          <a:prstGeom prst="ellipse">
            <a:avLst/>
          </a:prstGeom>
          <a:solidFill>
            <a:schemeClr val="tx1"/>
          </a:solidFill>
          <a:ln w="15875">
            <a:solidFill>
              <a:schemeClr val="accent1"/>
            </a:solidFill>
            <a:prstDash val="solid"/>
          </a:ln>
        </p:spPr>
      </p:sp>
      <p:pic>
        <p:nvPicPr>
          <p:cNvPr id="21" name="Icon 4" descr="Icon 4"/>
          <p:cNvPicPr>
            <a:picLocks noChangeAspect="1"/>
          </p:cNvPicPr>
          <p:nvPr/>
        </p:nvPicPr>
        <p:blipFill>
          <a:blip r:embed="rId6"/>
          <a:stretch>
            <a:fillRect/>
          </a:stretch>
        </p:blipFill>
        <p:spPr>
          <a:xfrm>
            <a:off x="6735470" y="3653942"/>
            <a:ext cx="336499" cy="336499"/>
          </a:xfrm>
          <a:prstGeom prst="rect">
            <a:avLst/>
          </a:prstGeom>
        </p:spPr>
      </p:pic>
      <p:sp>
        <p:nvSpPr>
          <p:cNvPr id="22" name="Concept title 4"/>
          <p:cNvSpPr txBox="1"/>
          <p:nvPr/>
        </p:nvSpPr>
        <p:spPr>
          <a:xfrm>
            <a:off x="7543800" y="3364992"/>
            <a:ext cx="3840480" cy="365760"/>
          </a:xfrm>
          <a:prstGeom prst="rect">
            <a:avLst/>
          </a:prstGeom>
          <a:noFill/>
          <a:ln/>
        </p:spPr>
        <p:txBody>
          <a:bodyPr wrap="square" lIns="0" tIns="0" rIns="0" bIns="0" rtlCol="0" anchor="t"/>
          <a:lstStyle/>
          <a:p>
            <a:pPr marL="0" indent="0">
              <a:buNone/>
            </a:pPr>
            <a:r>
              <a:rPr lang="en-US" sz="2000" b="1" dirty="0">
                <a:solidFill>
                  <a:schemeClr val="bg1"/>
                </a:solidFill>
              </a:rPr>
              <a:t>Half vs Full adder</a:t>
            </a:r>
            <a:endParaRPr lang="en-US" sz="2000" dirty="0"/>
          </a:p>
        </p:txBody>
      </p:sp>
      <p:sp>
        <p:nvSpPr>
          <p:cNvPr id="23" name="Concept text 4"/>
          <p:cNvSpPr txBox="1"/>
          <p:nvPr/>
        </p:nvSpPr>
        <p:spPr>
          <a:xfrm>
            <a:off x="7543800" y="3785616"/>
            <a:ext cx="3886200" cy="640080"/>
          </a:xfrm>
          <a:prstGeom prst="rect">
            <a:avLst/>
          </a:prstGeom>
          <a:noFill/>
          <a:ln/>
        </p:spPr>
        <p:txBody>
          <a:bodyPr wrap="square" lIns="0" tIns="0" rIns="0" bIns="0" rtlCol="0" anchor="t"/>
          <a:lstStyle/>
          <a:p>
            <a:pPr marL="0" indent="0">
              <a:buNone/>
            </a:pPr>
            <a:r>
              <a:rPr lang="en-US" sz="1500" dirty="0">
                <a:solidFill>
                  <a:schemeClr val="bg2"/>
                </a:solidFill>
              </a:rPr>
              <a:t>Half adder: 2 inputs. Full adder: 3 inputs, adds the carry-in too.</a:t>
            </a:r>
            <a:endParaRPr lang="en-US" sz="1500" dirty="0"/>
          </a:p>
        </p:txBody>
      </p:sp>
      <p:sp>
        <p:nvSpPr>
          <p:cNvPr id="24" name="Flow box 1"/>
          <p:cNvSpPr/>
          <p:nvPr/>
        </p:nvSpPr>
        <p:spPr>
          <a:xfrm>
            <a:off x="548640" y="4754880"/>
            <a:ext cx="3291840" cy="1417320"/>
          </a:xfrm>
          <a:prstGeom prst="roundRect">
            <a:avLst>
              <a:gd name="adj" fmla="val 7742"/>
            </a:avLst>
          </a:prstGeom>
          <a:solidFill>
            <a:schemeClr val="tx2">
              <a:alpha val="85000"/>
            </a:schemeClr>
          </a:solidFill>
          <a:ln w="9525">
            <a:solidFill>
              <a:schemeClr val="accent1">
                <a:alpha val="40000"/>
              </a:schemeClr>
            </a:solidFill>
            <a:prstDash val="solid"/>
          </a:ln>
        </p:spPr>
      </p:sp>
      <p:sp>
        <p:nvSpPr>
          <p:cNvPr id="25" name="Flow label"/>
          <p:cNvSpPr txBox="1"/>
          <p:nvPr/>
        </p:nvSpPr>
        <p:spPr>
          <a:xfrm>
            <a:off x="822960" y="4983480"/>
            <a:ext cx="27432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BINARY INPUTS</a:t>
            </a:r>
            <a:endParaRPr lang="en-US" sz="1200" dirty="0"/>
          </a:p>
        </p:txBody>
      </p:sp>
      <p:sp>
        <p:nvSpPr>
          <p:cNvPr id="26" name="Flow value"/>
          <p:cNvSpPr txBox="1"/>
          <p:nvPr/>
        </p:nvSpPr>
        <p:spPr>
          <a:xfrm>
            <a:off x="822960" y="5440680"/>
            <a:ext cx="2834640" cy="457200"/>
          </a:xfrm>
          <a:prstGeom prst="rect">
            <a:avLst/>
          </a:prstGeom>
          <a:noFill/>
          <a:ln/>
        </p:spPr>
        <p:txBody>
          <a:bodyPr wrap="square" lIns="0" tIns="0" rIns="0" bIns="0" rtlCol="0" anchor="t"/>
          <a:lstStyle/>
          <a:p>
            <a:pPr marL="0" indent="0">
              <a:buNone/>
            </a:pPr>
            <a:r>
              <a:rPr lang="en-US" sz="2200" b="1" dirty="0">
                <a:solidFill>
                  <a:schemeClr val="bg1"/>
                </a:solidFill>
                <a:latin typeface="Courier New" pitchFamily="34" charset="0"/>
                <a:ea typeface="Courier New" pitchFamily="34" charset="-122"/>
                <a:cs typeface="Courier New" pitchFamily="34" charset="-120"/>
              </a:rPr>
              <a:t>A = 1    B = 0</a:t>
            </a:r>
            <a:endParaRPr lang="en-US" sz="2200" dirty="0"/>
          </a:p>
        </p:txBody>
      </p:sp>
      <p:sp>
        <p:nvSpPr>
          <p:cNvPr id="27" name="Flow box 3"/>
          <p:cNvSpPr/>
          <p:nvPr/>
        </p:nvSpPr>
        <p:spPr>
          <a:xfrm>
            <a:off x="8321040" y="4754880"/>
            <a:ext cx="3291840" cy="1417320"/>
          </a:xfrm>
          <a:prstGeom prst="roundRect">
            <a:avLst>
              <a:gd name="adj" fmla="val 7742"/>
            </a:avLst>
          </a:prstGeom>
          <a:solidFill>
            <a:schemeClr val="tx2">
              <a:alpha val="85000"/>
            </a:schemeClr>
          </a:solidFill>
          <a:ln w="9525">
            <a:solidFill>
              <a:schemeClr val="accent1">
                <a:alpha val="40000"/>
              </a:schemeClr>
            </a:solidFill>
            <a:prstDash val="solid"/>
          </a:ln>
        </p:spPr>
      </p:sp>
      <p:sp>
        <p:nvSpPr>
          <p:cNvPr id="28" name="Flow label"/>
          <p:cNvSpPr txBox="1"/>
          <p:nvPr/>
        </p:nvSpPr>
        <p:spPr>
          <a:xfrm>
            <a:off x="8595360" y="4983480"/>
            <a:ext cx="27432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SUM &amp; CARRY</a:t>
            </a:r>
            <a:endParaRPr lang="en-US" sz="1200" dirty="0"/>
          </a:p>
        </p:txBody>
      </p:sp>
      <p:sp>
        <p:nvSpPr>
          <p:cNvPr id="29" name="Flow value"/>
          <p:cNvSpPr txBox="1"/>
          <p:nvPr/>
        </p:nvSpPr>
        <p:spPr>
          <a:xfrm>
            <a:off x="8595360" y="5440680"/>
            <a:ext cx="2834640" cy="457200"/>
          </a:xfrm>
          <a:prstGeom prst="rect">
            <a:avLst/>
          </a:prstGeom>
          <a:noFill/>
          <a:ln/>
        </p:spPr>
        <p:txBody>
          <a:bodyPr wrap="square" lIns="0" tIns="0" rIns="0" bIns="0" rtlCol="0" anchor="t"/>
          <a:lstStyle/>
          <a:p>
            <a:pPr marL="0" indent="0">
              <a:buNone/>
            </a:pPr>
            <a:r>
              <a:rPr lang="en-US" sz="2200" b="1" dirty="0">
                <a:solidFill>
                  <a:schemeClr val="bg1"/>
                </a:solidFill>
                <a:latin typeface="Courier New" pitchFamily="34" charset="0"/>
                <a:ea typeface="Courier New" pitchFamily="34" charset="-122"/>
                <a:cs typeface="Courier New" pitchFamily="34" charset="-120"/>
              </a:rPr>
              <a:t>S = 1    C = 0</a:t>
            </a:r>
            <a:endParaRPr lang="en-US" sz="2200" dirty="0"/>
          </a:p>
        </p:txBody>
      </p:sp>
      <p:sp>
        <p:nvSpPr>
          <p:cNvPr id="30" name="Flow box 2"/>
          <p:cNvSpPr/>
          <p:nvPr/>
        </p:nvSpPr>
        <p:spPr>
          <a:xfrm>
            <a:off x="4434840" y="4754880"/>
            <a:ext cx="3291840" cy="1417320"/>
          </a:xfrm>
          <a:prstGeom prst="roundRect">
            <a:avLst>
              <a:gd name="adj" fmla="val 7742"/>
            </a:avLst>
          </a:prstGeom>
          <a:solidFill>
            <a:schemeClr val="tx2">
              <a:alpha val="85000"/>
            </a:schemeClr>
          </a:solidFill>
          <a:ln w="9525">
            <a:solidFill>
              <a:schemeClr val="accent1">
                <a:alpha val="40000"/>
              </a:schemeClr>
            </a:solidFill>
            <a:prstDash val="solid"/>
          </a:ln>
        </p:spPr>
      </p:sp>
      <p:sp>
        <p:nvSpPr>
          <p:cNvPr id="31" name="Flow label"/>
          <p:cNvSpPr txBox="1"/>
          <p:nvPr/>
        </p:nvSpPr>
        <p:spPr>
          <a:xfrm>
            <a:off x="4709160" y="4983480"/>
            <a:ext cx="274320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LOGIC GATES</a:t>
            </a:r>
            <a:endParaRPr lang="en-US" sz="1200" dirty="0"/>
          </a:p>
        </p:txBody>
      </p:sp>
      <p:pic>
        <p:nvPicPr>
          <p:cNvPr id="32" name="Gate symbols" descr="XOR, AND and OR gate symbols"/>
          <p:cNvPicPr>
            <a:picLocks noChangeAspect="1"/>
          </p:cNvPicPr>
          <p:nvPr/>
        </p:nvPicPr>
        <p:blipFill>
          <a:blip r:embed="rId7"/>
          <a:stretch>
            <a:fillRect/>
          </a:stretch>
        </p:blipFill>
        <p:spPr>
          <a:xfrm>
            <a:off x="4663440" y="5321808"/>
            <a:ext cx="2834640" cy="752951"/>
          </a:xfrm>
          <a:prstGeom prst="rect">
            <a:avLst/>
          </a:prstGeom>
        </p:spPr>
      </p:pic>
      <p:sp>
        <p:nvSpPr>
          <p:cNvPr id="33" name="Flow arrow 1"/>
          <p:cNvSpPr/>
          <p:nvPr/>
        </p:nvSpPr>
        <p:spPr>
          <a:xfrm>
            <a:off x="3886200" y="5463540"/>
            <a:ext cx="502920" cy="0"/>
          </a:xfrm>
          <a:prstGeom prst="line">
            <a:avLst/>
          </a:prstGeom>
          <a:noFill/>
          <a:ln w="31750">
            <a:solidFill>
              <a:schemeClr val="accent1"/>
            </a:solidFill>
            <a:prstDash val="solid"/>
            <a:tailEnd type="triangle"/>
          </a:ln>
        </p:spPr>
      </p:sp>
      <p:sp>
        <p:nvSpPr>
          <p:cNvPr id="34" name="Flow arrow 2"/>
          <p:cNvSpPr/>
          <p:nvPr/>
        </p:nvSpPr>
        <p:spPr>
          <a:xfrm>
            <a:off x="7772400" y="5463540"/>
            <a:ext cx="502920" cy="0"/>
          </a:xfrm>
          <a:prstGeom prst="line">
            <a:avLst/>
          </a:prstGeom>
          <a:noFill/>
          <a:ln w="31750">
            <a:solidFill>
              <a:schemeClr val="accent1"/>
            </a:solidFill>
            <a:prstDash val="solid"/>
            <a:tailEnd type="triangle"/>
          </a:ln>
        </p:spPr>
      </p:sp>
      <p:sp>
        <p:nvSpPr>
          <p:cNvPr id="3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label"/>
          <p:cNvSpPr txBox="1"/>
          <p:nvPr/>
        </p:nvSpPr>
        <p:spPr>
          <a:xfrm>
            <a:off x="548640" y="338328"/>
            <a:ext cx="7315200" cy="274320"/>
          </a:xfrm>
          <a:prstGeom prst="rect">
            <a:avLst/>
          </a:prstGeom>
          <a:noFill/>
          <a:ln/>
        </p:spPr>
        <p:txBody>
          <a:bodyPr wrap="square" lIns="0" tIns="0" rIns="0" bIns="0" rtlCol="0" anchor="t"/>
          <a:lstStyle/>
          <a:p>
            <a:pPr marL="0" indent="0">
              <a:buNone/>
            </a:pPr>
            <a:r>
              <a:rPr lang="en-US" sz="1500" b="1" kern="0" spc="300" dirty="0">
                <a:solidFill>
                  <a:schemeClr val="accent1"/>
                </a:solidFill>
              </a:rPr>
              <a:t>INTRODUCTION</a:t>
            </a:r>
            <a:endParaRPr lang="en-US" sz="1500" dirty="0"/>
          </a:p>
        </p:txBody>
      </p:sp>
      <p:sp>
        <p:nvSpPr>
          <p:cNvPr id="3" name="Text 0"/>
          <p:cNvSpPr>
            <a:spLocks noGrp="1"/>
          </p:cNvSpPr>
          <p:nvPr>
            <p:ph type="title" idx="100" hasCustomPrompt="1"/>
          </p:nvPr>
        </p:nvSpPr>
        <p:spPr>
          <a:xfrm>
            <a:off x="548640" y="566928"/>
            <a:ext cx="9601200" cy="731520"/>
          </a:xfrm>
          <a:prstGeom prst="rect">
            <a:avLst/>
          </a:prstGeom>
          <a:noFill/>
          <a:ln/>
        </p:spPr>
        <p:txBody>
          <a:bodyPr wrap="square" lIns="0" tIns="0" rIns="0" bIns="0" rtlCol="0" anchor="ctr"/>
          <a:lstStyle/>
          <a:p>
            <a:pPr marL="0" indent="0" algn="l">
              <a:buNone/>
            </a:pPr>
            <a:r>
              <a:rPr lang="en-US" sz="3400" b="1" dirty="0">
                <a:solidFill>
                  <a:schemeClr val="bg1"/>
                </a:solidFill>
              </a:rPr>
              <a:t>Basic Binary Addition</a:t>
            </a:r>
            <a:endParaRPr lang="en-US" sz="3400" dirty="0"/>
          </a:p>
        </p:txBody>
      </p:sp>
      <p:sp>
        <p:nvSpPr>
          <p:cNvPr id="4" name="Addition card 1"/>
          <p:cNvSpPr/>
          <p:nvPr/>
        </p:nvSpPr>
        <p:spPr>
          <a:xfrm>
            <a:off x="548640" y="1463040"/>
            <a:ext cx="2560320" cy="2331720"/>
          </a:xfrm>
          <a:prstGeom prst="roundRect">
            <a:avLst>
              <a:gd name="adj" fmla="val 4706"/>
            </a:avLst>
          </a:prstGeom>
          <a:solidFill>
            <a:schemeClr val="tx2">
              <a:alpha val="85000"/>
            </a:schemeClr>
          </a:solidFill>
          <a:ln w="9525">
            <a:solidFill>
              <a:schemeClr val="accent1">
                <a:alpha val="40000"/>
              </a:schemeClr>
            </a:solidFill>
            <a:prstDash val="solid"/>
          </a:ln>
        </p:spPr>
      </p:sp>
      <p:sp>
        <p:nvSpPr>
          <p:cNvPr id="5" name="Equation 1"/>
          <p:cNvSpPr txBox="1"/>
          <p:nvPr/>
        </p:nvSpPr>
        <p:spPr>
          <a:xfrm>
            <a:off x="548640" y="1737360"/>
            <a:ext cx="2560320" cy="640080"/>
          </a:xfrm>
          <a:prstGeom prst="rect">
            <a:avLst/>
          </a:prstGeom>
          <a:noFill/>
          <a:ln/>
        </p:spPr>
        <p:txBody>
          <a:bodyPr wrap="square" lIns="0" tIns="0" rIns="0" bIns="0" rtlCol="0" anchor="t"/>
          <a:lstStyle/>
          <a:p>
            <a:pPr marL="0" indent="0" algn="ctr">
              <a:buNone/>
            </a:pPr>
            <a:r>
              <a:rPr lang="en-US" sz="2800" b="1" dirty="0">
                <a:solidFill>
                  <a:schemeClr val="bg1"/>
                </a:solidFill>
                <a:latin typeface="Courier New" pitchFamily="34" charset="0"/>
                <a:ea typeface="Courier New" pitchFamily="34" charset="-122"/>
                <a:cs typeface="Courier New" pitchFamily="34" charset="-120"/>
              </a:rPr>
              <a:t>0 + 0 = </a:t>
            </a:r>
            <a:r>
              <a:rPr lang="en-US" sz="2800" b="1" dirty="0">
                <a:solidFill>
                  <a:schemeClr val="accent1"/>
                </a:solidFill>
                <a:latin typeface="Courier New" pitchFamily="34" charset="0"/>
                <a:ea typeface="Courier New" pitchFamily="34" charset="-122"/>
                <a:cs typeface="Courier New" pitchFamily="34" charset="-120"/>
              </a:rPr>
              <a:t>0</a:t>
            </a:r>
            <a:endParaRPr lang="en-US" sz="2800" dirty="0"/>
          </a:p>
        </p:txBody>
      </p:sp>
      <p:sp>
        <p:nvSpPr>
          <p:cNvPr id="6" name="CARRY chip 1"/>
          <p:cNvSpPr/>
          <p:nvPr/>
        </p:nvSpPr>
        <p:spPr>
          <a:xfrm>
            <a:off x="731520" y="2651760"/>
            <a:ext cx="1051560" cy="868680"/>
          </a:xfrm>
          <a:prstGeom prst="roundRect">
            <a:avLst>
              <a:gd name="adj" fmla="val 10526"/>
            </a:avLst>
          </a:prstGeom>
          <a:solidFill>
            <a:schemeClr val="accent4">
              <a:alpha val="8000"/>
            </a:schemeClr>
          </a:solidFill>
          <a:ln w="12700">
            <a:solidFill>
              <a:schemeClr val="accent4">
                <a:alpha val="40000"/>
              </a:schemeClr>
            </a:solidFill>
            <a:prstDash val="solid"/>
          </a:ln>
        </p:spPr>
      </p:sp>
      <p:sp>
        <p:nvSpPr>
          <p:cNvPr id="7" name="CARRY label"/>
          <p:cNvSpPr txBox="1"/>
          <p:nvPr/>
        </p:nvSpPr>
        <p:spPr>
          <a:xfrm>
            <a:off x="731520" y="2724912"/>
            <a:ext cx="1051560" cy="201168"/>
          </a:xfrm>
          <a:prstGeom prst="rect">
            <a:avLst/>
          </a:prstGeom>
          <a:noFill/>
          <a:ln/>
        </p:spPr>
        <p:txBody>
          <a:bodyPr wrap="square" lIns="0" tIns="0" rIns="0" bIns="0" rtlCol="0" anchor="t"/>
          <a:lstStyle/>
          <a:p>
            <a:pPr marL="0" indent="0" algn="ctr">
              <a:buNone/>
            </a:pPr>
            <a:r>
              <a:rPr lang="en-US" sz="1100" b="1" kern="0" spc="200" dirty="0">
                <a:solidFill>
                  <a:schemeClr val="accent4"/>
                </a:solidFill>
              </a:rPr>
              <a:t>CARRY</a:t>
            </a:r>
            <a:endParaRPr lang="en-US" sz="1100" dirty="0"/>
          </a:p>
        </p:txBody>
      </p:sp>
      <p:sp>
        <p:nvSpPr>
          <p:cNvPr id="8" name="CARRY value"/>
          <p:cNvSpPr txBox="1"/>
          <p:nvPr/>
        </p:nvSpPr>
        <p:spPr>
          <a:xfrm>
            <a:off x="731520" y="2971800"/>
            <a:ext cx="1051560" cy="457200"/>
          </a:xfrm>
          <a:prstGeom prst="rect">
            <a:avLst/>
          </a:prstGeom>
          <a:noFill/>
          <a:ln/>
        </p:spPr>
        <p:txBody>
          <a:bodyPr wrap="square" lIns="0" tIns="0" rIns="0" bIns="0" rtlCol="0" anchor="t"/>
          <a:lstStyle/>
          <a:p>
            <a:pPr marL="0" indent="0" algn="ctr">
              <a:buNone/>
            </a:pPr>
            <a:r>
              <a:rPr lang="en-US" sz="2600" b="1" dirty="0">
                <a:solidFill>
                  <a:schemeClr val="bg1"/>
                </a:solidFill>
                <a:latin typeface="Courier New" pitchFamily="34" charset="0"/>
                <a:ea typeface="Courier New" pitchFamily="34" charset="-122"/>
                <a:cs typeface="Courier New" pitchFamily="34" charset="-120"/>
              </a:rPr>
              <a:t>0</a:t>
            </a:r>
            <a:endParaRPr lang="en-US" sz="2600" dirty="0"/>
          </a:p>
        </p:txBody>
      </p:sp>
      <p:sp>
        <p:nvSpPr>
          <p:cNvPr id="9" name="SUM chip 1"/>
          <p:cNvSpPr/>
          <p:nvPr/>
        </p:nvSpPr>
        <p:spPr>
          <a:xfrm>
            <a:off x="1874520" y="2651760"/>
            <a:ext cx="1051560" cy="868680"/>
          </a:xfrm>
          <a:prstGeom prst="roundRect">
            <a:avLst>
              <a:gd name="adj" fmla="val 10526"/>
            </a:avLst>
          </a:prstGeom>
          <a:solidFill>
            <a:schemeClr val="accent1">
              <a:alpha val="8000"/>
            </a:schemeClr>
          </a:solidFill>
          <a:ln w="12700">
            <a:solidFill>
              <a:schemeClr val="accent1">
                <a:alpha val="40000"/>
              </a:schemeClr>
            </a:solidFill>
            <a:prstDash val="solid"/>
          </a:ln>
        </p:spPr>
      </p:sp>
      <p:sp>
        <p:nvSpPr>
          <p:cNvPr id="10" name="SUM label"/>
          <p:cNvSpPr txBox="1"/>
          <p:nvPr/>
        </p:nvSpPr>
        <p:spPr>
          <a:xfrm>
            <a:off x="1874520" y="2724912"/>
            <a:ext cx="1051560" cy="201168"/>
          </a:xfrm>
          <a:prstGeom prst="rect">
            <a:avLst/>
          </a:prstGeom>
          <a:noFill/>
          <a:ln/>
        </p:spPr>
        <p:txBody>
          <a:bodyPr wrap="square" lIns="0" tIns="0" rIns="0" bIns="0" rtlCol="0" anchor="t"/>
          <a:lstStyle/>
          <a:p>
            <a:pPr marL="0" indent="0" algn="ctr">
              <a:buNone/>
            </a:pPr>
            <a:r>
              <a:rPr lang="en-US" sz="1100" b="1" kern="0" spc="200" dirty="0">
                <a:solidFill>
                  <a:schemeClr val="accent1"/>
                </a:solidFill>
              </a:rPr>
              <a:t>SUM</a:t>
            </a:r>
            <a:endParaRPr lang="en-US" sz="1100" dirty="0"/>
          </a:p>
        </p:txBody>
      </p:sp>
      <p:sp>
        <p:nvSpPr>
          <p:cNvPr id="11" name="SUM value"/>
          <p:cNvSpPr txBox="1"/>
          <p:nvPr/>
        </p:nvSpPr>
        <p:spPr>
          <a:xfrm>
            <a:off x="1874520" y="2971800"/>
            <a:ext cx="1051560" cy="457200"/>
          </a:xfrm>
          <a:prstGeom prst="rect">
            <a:avLst/>
          </a:prstGeom>
          <a:noFill/>
          <a:ln/>
        </p:spPr>
        <p:txBody>
          <a:bodyPr wrap="square" lIns="0" tIns="0" rIns="0" bIns="0" rtlCol="0" anchor="t"/>
          <a:lstStyle/>
          <a:p>
            <a:pPr marL="0" indent="0" algn="ctr">
              <a:buNone/>
            </a:pPr>
            <a:r>
              <a:rPr lang="en-US" sz="2600" b="1" dirty="0">
                <a:solidFill>
                  <a:schemeClr val="bg1"/>
                </a:solidFill>
                <a:latin typeface="Courier New" pitchFamily="34" charset="0"/>
                <a:ea typeface="Courier New" pitchFamily="34" charset="-122"/>
                <a:cs typeface="Courier New" pitchFamily="34" charset="-120"/>
              </a:rPr>
              <a:t>0</a:t>
            </a:r>
            <a:endParaRPr lang="en-US" sz="2600" dirty="0"/>
          </a:p>
        </p:txBody>
      </p:sp>
      <p:sp>
        <p:nvSpPr>
          <p:cNvPr id="12" name="Addition card 2"/>
          <p:cNvSpPr/>
          <p:nvPr/>
        </p:nvSpPr>
        <p:spPr>
          <a:xfrm>
            <a:off x="3383280" y="1463040"/>
            <a:ext cx="2560320" cy="2331720"/>
          </a:xfrm>
          <a:prstGeom prst="roundRect">
            <a:avLst>
              <a:gd name="adj" fmla="val 4706"/>
            </a:avLst>
          </a:prstGeom>
          <a:solidFill>
            <a:schemeClr val="tx2">
              <a:alpha val="85000"/>
            </a:schemeClr>
          </a:solidFill>
          <a:ln w="9525">
            <a:solidFill>
              <a:schemeClr val="accent1">
                <a:alpha val="40000"/>
              </a:schemeClr>
            </a:solidFill>
            <a:prstDash val="solid"/>
          </a:ln>
        </p:spPr>
      </p:sp>
      <p:sp>
        <p:nvSpPr>
          <p:cNvPr id="13" name="Equation 2"/>
          <p:cNvSpPr txBox="1"/>
          <p:nvPr/>
        </p:nvSpPr>
        <p:spPr>
          <a:xfrm>
            <a:off x="3383280" y="1737360"/>
            <a:ext cx="2560320" cy="640080"/>
          </a:xfrm>
          <a:prstGeom prst="rect">
            <a:avLst/>
          </a:prstGeom>
          <a:noFill/>
          <a:ln/>
        </p:spPr>
        <p:txBody>
          <a:bodyPr wrap="square" lIns="0" tIns="0" rIns="0" bIns="0" rtlCol="0" anchor="t"/>
          <a:lstStyle/>
          <a:p>
            <a:pPr marL="0" indent="0" algn="ctr">
              <a:buNone/>
            </a:pPr>
            <a:r>
              <a:rPr lang="en-US" sz="2800" b="1" dirty="0">
                <a:solidFill>
                  <a:schemeClr val="bg1"/>
                </a:solidFill>
                <a:latin typeface="Courier New" pitchFamily="34" charset="0"/>
                <a:ea typeface="Courier New" pitchFamily="34" charset="-122"/>
                <a:cs typeface="Courier New" pitchFamily="34" charset="-120"/>
              </a:rPr>
              <a:t>0 + 1 = </a:t>
            </a:r>
            <a:r>
              <a:rPr lang="en-US" sz="2800" b="1" dirty="0">
                <a:solidFill>
                  <a:schemeClr val="accent1"/>
                </a:solidFill>
                <a:latin typeface="Courier New" pitchFamily="34" charset="0"/>
                <a:ea typeface="Courier New" pitchFamily="34" charset="-122"/>
                <a:cs typeface="Courier New" pitchFamily="34" charset="-120"/>
              </a:rPr>
              <a:t>1</a:t>
            </a:r>
            <a:endParaRPr lang="en-US" sz="2800" dirty="0"/>
          </a:p>
        </p:txBody>
      </p:sp>
      <p:sp>
        <p:nvSpPr>
          <p:cNvPr id="14" name="CARRY chip 2"/>
          <p:cNvSpPr/>
          <p:nvPr/>
        </p:nvSpPr>
        <p:spPr>
          <a:xfrm>
            <a:off x="3566160" y="2651760"/>
            <a:ext cx="1051560" cy="868680"/>
          </a:xfrm>
          <a:prstGeom prst="roundRect">
            <a:avLst>
              <a:gd name="adj" fmla="val 10526"/>
            </a:avLst>
          </a:prstGeom>
          <a:solidFill>
            <a:schemeClr val="accent4">
              <a:alpha val="8000"/>
            </a:schemeClr>
          </a:solidFill>
          <a:ln w="12700">
            <a:solidFill>
              <a:schemeClr val="accent4">
                <a:alpha val="40000"/>
              </a:schemeClr>
            </a:solidFill>
            <a:prstDash val="solid"/>
          </a:ln>
        </p:spPr>
      </p:sp>
      <p:sp>
        <p:nvSpPr>
          <p:cNvPr id="15" name="CARRY label"/>
          <p:cNvSpPr txBox="1"/>
          <p:nvPr/>
        </p:nvSpPr>
        <p:spPr>
          <a:xfrm>
            <a:off x="3566160" y="2724912"/>
            <a:ext cx="1051560" cy="201168"/>
          </a:xfrm>
          <a:prstGeom prst="rect">
            <a:avLst/>
          </a:prstGeom>
          <a:noFill/>
          <a:ln/>
        </p:spPr>
        <p:txBody>
          <a:bodyPr wrap="square" lIns="0" tIns="0" rIns="0" bIns="0" rtlCol="0" anchor="t"/>
          <a:lstStyle/>
          <a:p>
            <a:pPr marL="0" indent="0" algn="ctr">
              <a:buNone/>
            </a:pPr>
            <a:r>
              <a:rPr lang="en-US" sz="1100" b="1" kern="0" spc="200" dirty="0">
                <a:solidFill>
                  <a:schemeClr val="accent4"/>
                </a:solidFill>
              </a:rPr>
              <a:t>CARRY</a:t>
            </a:r>
            <a:endParaRPr lang="en-US" sz="1100" dirty="0"/>
          </a:p>
        </p:txBody>
      </p:sp>
      <p:sp>
        <p:nvSpPr>
          <p:cNvPr id="16" name="CARRY value"/>
          <p:cNvSpPr txBox="1"/>
          <p:nvPr/>
        </p:nvSpPr>
        <p:spPr>
          <a:xfrm>
            <a:off x="3566160" y="2971800"/>
            <a:ext cx="1051560" cy="457200"/>
          </a:xfrm>
          <a:prstGeom prst="rect">
            <a:avLst/>
          </a:prstGeom>
          <a:noFill/>
          <a:ln/>
        </p:spPr>
        <p:txBody>
          <a:bodyPr wrap="square" lIns="0" tIns="0" rIns="0" bIns="0" rtlCol="0" anchor="t"/>
          <a:lstStyle/>
          <a:p>
            <a:pPr marL="0" indent="0" algn="ctr">
              <a:buNone/>
            </a:pPr>
            <a:r>
              <a:rPr lang="en-US" sz="2600" b="1" dirty="0">
                <a:solidFill>
                  <a:schemeClr val="bg1"/>
                </a:solidFill>
                <a:latin typeface="Courier New" pitchFamily="34" charset="0"/>
                <a:ea typeface="Courier New" pitchFamily="34" charset="-122"/>
                <a:cs typeface="Courier New" pitchFamily="34" charset="-120"/>
              </a:rPr>
              <a:t>0</a:t>
            </a:r>
            <a:endParaRPr lang="en-US" sz="2600" dirty="0"/>
          </a:p>
        </p:txBody>
      </p:sp>
      <p:sp>
        <p:nvSpPr>
          <p:cNvPr id="17" name="SUM chip 2"/>
          <p:cNvSpPr/>
          <p:nvPr/>
        </p:nvSpPr>
        <p:spPr>
          <a:xfrm>
            <a:off x="4709160" y="2651760"/>
            <a:ext cx="1051560" cy="868680"/>
          </a:xfrm>
          <a:prstGeom prst="roundRect">
            <a:avLst>
              <a:gd name="adj" fmla="val 10526"/>
            </a:avLst>
          </a:prstGeom>
          <a:solidFill>
            <a:schemeClr val="accent1">
              <a:alpha val="30000"/>
            </a:schemeClr>
          </a:solidFill>
          <a:ln w="12700">
            <a:solidFill>
              <a:schemeClr val="accent1">
                <a:alpha val="80000"/>
              </a:schemeClr>
            </a:solidFill>
            <a:prstDash val="solid"/>
          </a:ln>
        </p:spPr>
      </p:sp>
      <p:sp>
        <p:nvSpPr>
          <p:cNvPr id="18" name="SUM label"/>
          <p:cNvSpPr txBox="1"/>
          <p:nvPr/>
        </p:nvSpPr>
        <p:spPr>
          <a:xfrm>
            <a:off x="4709160" y="2724912"/>
            <a:ext cx="1051560" cy="201168"/>
          </a:xfrm>
          <a:prstGeom prst="rect">
            <a:avLst/>
          </a:prstGeom>
          <a:noFill/>
          <a:ln/>
        </p:spPr>
        <p:txBody>
          <a:bodyPr wrap="square" lIns="0" tIns="0" rIns="0" bIns="0" rtlCol="0" anchor="t"/>
          <a:lstStyle/>
          <a:p>
            <a:pPr marL="0" indent="0" algn="ctr">
              <a:buNone/>
            </a:pPr>
            <a:r>
              <a:rPr lang="en-US" sz="1100" b="1" kern="0" spc="200" dirty="0">
                <a:solidFill>
                  <a:schemeClr val="accent1"/>
                </a:solidFill>
              </a:rPr>
              <a:t>SUM</a:t>
            </a:r>
            <a:endParaRPr lang="en-US" sz="1100" dirty="0"/>
          </a:p>
        </p:txBody>
      </p:sp>
      <p:sp>
        <p:nvSpPr>
          <p:cNvPr id="19" name="SUM value"/>
          <p:cNvSpPr txBox="1"/>
          <p:nvPr/>
        </p:nvSpPr>
        <p:spPr>
          <a:xfrm>
            <a:off x="4709160" y="2971800"/>
            <a:ext cx="1051560" cy="457200"/>
          </a:xfrm>
          <a:prstGeom prst="rect">
            <a:avLst/>
          </a:prstGeom>
          <a:noFill/>
          <a:ln/>
        </p:spPr>
        <p:txBody>
          <a:bodyPr wrap="square" lIns="0" tIns="0" rIns="0" bIns="0" rtlCol="0" anchor="t"/>
          <a:lstStyle/>
          <a:p>
            <a:pPr marL="0" indent="0" algn="ctr">
              <a:buNone/>
            </a:pPr>
            <a:r>
              <a:rPr lang="en-US" sz="2600" b="1" dirty="0">
                <a:solidFill>
                  <a:schemeClr val="bg1"/>
                </a:solidFill>
                <a:latin typeface="Courier New" pitchFamily="34" charset="0"/>
                <a:ea typeface="Courier New" pitchFamily="34" charset="-122"/>
                <a:cs typeface="Courier New" pitchFamily="34" charset="-120"/>
              </a:rPr>
              <a:t>1</a:t>
            </a:r>
            <a:endParaRPr lang="en-US" sz="2600" dirty="0"/>
          </a:p>
        </p:txBody>
      </p:sp>
      <p:sp>
        <p:nvSpPr>
          <p:cNvPr id="20" name="Addition card 3"/>
          <p:cNvSpPr/>
          <p:nvPr/>
        </p:nvSpPr>
        <p:spPr>
          <a:xfrm>
            <a:off x="6217920" y="1463040"/>
            <a:ext cx="2560320" cy="2331720"/>
          </a:xfrm>
          <a:prstGeom prst="roundRect">
            <a:avLst>
              <a:gd name="adj" fmla="val 4706"/>
            </a:avLst>
          </a:prstGeom>
          <a:solidFill>
            <a:schemeClr val="tx2">
              <a:alpha val="85000"/>
            </a:schemeClr>
          </a:solidFill>
          <a:ln w="9525">
            <a:solidFill>
              <a:schemeClr val="accent1">
                <a:alpha val="40000"/>
              </a:schemeClr>
            </a:solidFill>
            <a:prstDash val="solid"/>
          </a:ln>
        </p:spPr>
      </p:sp>
      <p:sp>
        <p:nvSpPr>
          <p:cNvPr id="21" name="Equation 3"/>
          <p:cNvSpPr txBox="1"/>
          <p:nvPr/>
        </p:nvSpPr>
        <p:spPr>
          <a:xfrm>
            <a:off x="6217920" y="1737360"/>
            <a:ext cx="2560320" cy="640080"/>
          </a:xfrm>
          <a:prstGeom prst="rect">
            <a:avLst/>
          </a:prstGeom>
          <a:noFill/>
          <a:ln/>
        </p:spPr>
        <p:txBody>
          <a:bodyPr wrap="square" lIns="0" tIns="0" rIns="0" bIns="0" rtlCol="0" anchor="t"/>
          <a:lstStyle/>
          <a:p>
            <a:pPr marL="0" indent="0" algn="ctr">
              <a:buNone/>
            </a:pPr>
            <a:r>
              <a:rPr lang="en-US" sz="2800" b="1" dirty="0">
                <a:solidFill>
                  <a:schemeClr val="bg1"/>
                </a:solidFill>
                <a:latin typeface="Courier New" pitchFamily="34" charset="0"/>
                <a:ea typeface="Courier New" pitchFamily="34" charset="-122"/>
                <a:cs typeface="Courier New" pitchFamily="34" charset="-120"/>
              </a:rPr>
              <a:t>1 + 0 = </a:t>
            </a:r>
            <a:r>
              <a:rPr lang="en-US" sz="2800" b="1" dirty="0">
                <a:solidFill>
                  <a:schemeClr val="accent1"/>
                </a:solidFill>
                <a:latin typeface="Courier New" pitchFamily="34" charset="0"/>
                <a:ea typeface="Courier New" pitchFamily="34" charset="-122"/>
                <a:cs typeface="Courier New" pitchFamily="34" charset="-120"/>
              </a:rPr>
              <a:t>1</a:t>
            </a:r>
            <a:endParaRPr lang="en-US" sz="2800" dirty="0"/>
          </a:p>
        </p:txBody>
      </p:sp>
      <p:sp>
        <p:nvSpPr>
          <p:cNvPr id="22" name="CARRY chip 3"/>
          <p:cNvSpPr/>
          <p:nvPr/>
        </p:nvSpPr>
        <p:spPr>
          <a:xfrm>
            <a:off x="6400800" y="2651760"/>
            <a:ext cx="1051560" cy="868680"/>
          </a:xfrm>
          <a:prstGeom prst="roundRect">
            <a:avLst>
              <a:gd name="adj" fmla="val 10526"/>
            </a:avLst>
          </a:prstGeom>
          <a:solidFill>
            <a:schemeClr val="accent4">
              <a:alpha val="8000"/>
            </a:schemeClr>
          </a:solidFill>
          <a:ln w="12700">
            <a:solidFill>
              <a:schemeClr val="accent4">
                <a:alpha val="40000"/>
              </a:schemeClr>
            </a:solidFill>
            <a:prstDash val="solid"/>
          </a:ln>
        </p:spPr>
      </p:sp>
      <p:sp>
        <p:nvSpPr>
          <p:cNvPr id="23" name="CARRY label"/>
          <p:cNvSpPr txBox="1"/>
          <p:nvPr/>
        </p:nvSpPr>
        <p:spPr>
          <a:xfrm>
            <a:off x="6400800" y="2724912"/>
            <a:ext cx="1051560" cy="201168"/>
          </a:xfrm>
          <a:prstGeom prst="rect">
            <a:avLst/>
          </a:prstGeom>
          <a:noFill/>
          <a:ln/>
        </p:spPr>
        <p:txBody>
          <a:bodyPr wrap="square" lIns="0" tIns="0" rIns="0" bIns="0" rtlCol="0" anchor="t"/>
          <a:lstStyle/>
          <a:p>
            <a:pPr marL="0" indent="0" algn="ctr">
              <a:buNone/>
            </a:pPr>
            <a:r>
              <a:rPr lang="en-US" sz="1100" b="1" kern="0" spc="200" dirty="0">
                <a:solidFill>
                  <a:schemeClr val="accent4"/>
                </a:solidFill>
              </a:rPr>
              <a:t>CARRY</a:t>
            </a:r>
            <a:endParaRPr lang="en-US" sz="1100" dirty="0"/>
          </a:p>
        </p:txBody>
      </p:sp>
      <p:sp>
        <p:nvSpPr>
          <p:cNvPr id="24" name="CARRY value"/>
          <p:cNvSpPr txBox="1"/>
          <p:nvPr/>
        </p:nvSpPr>
        <p:spPr>
          <a:xfrm>
            <a:off x="6400800" y="2971800"/>
            <a:ext cx="1051560" cy="457200"/>
          </a:xfrm>
          <a:prstGeom prst="rect">
            <a:avLst/>
          </a:prstGeom>
          <a:noFill/>
          <a:ln/>
        </p:spPr>
        <p:txBody>
          <a:bodyPr wrap="square" lIns="0" tIns="0" rIns="0" bIns="0" rtlCol="0" anchor="t"/>
          <a:lstStyle/>
          <a:p>
            <a:pPr marL="0" indent="0" algn="ctr">
              <a:buNone/>
            </a:pPr>
            <a:r>
              <a:rPr lang="en-US" sz="2600" b="1" dirty="0">
                <a:solidFill>
                  <a:schemeClr val="bg1"/>
                </a:solidFill>
                <a:latin typeface="Courier New" pitchFamily="34" charset="0"/>
                <a:ea typeface="Courier New" pitchFamily="34" charset="-122"/>
                <a:cs typeface="Courier New" pitchFamily="34" charset="-120"/>
              </a:rPr>
              <a:t>0</a:t>
            </a:r>
            <a:endParaRPr lang="en-US" sz="2600" dirty="0"/>
          </a:p>
        </p:txBody>
      </p:sp>
      <p:sp>
        <p:nvSpPr>
          <p:cNvPr id="25" name="SUM chip 3"/>
          <p:cNvSpPr/>
          <p:nvPr/>
        </p:nvSpPr>
        <p:spPr>
          <a:xfrm>
            <a:off x="7543800" y="2651760"/>
            <a:ext cx="1051560" cy="868680"/>
          </a:xfrm>
          <a:prstGeom prst="roundRect">
            <a:avLst>
              <a:gd name="adj" fmla="val 10526"/>
            </a:avLst>
          </a:prstGeom>
          <a:solidFill>
            <a:schemeClr val="accent1">
              <a:alpha val="30000"/>
            </a:schemeClr>
          </a:solidFill>
          <a:ln w="12700">
            <a:solidFill>
              <a:schemeClr val="accent1">
                <a:alpha val="80000"/>
              </a:schemeClr>
            </a:solidFill>
            <a:prstDash val="solid"/>
          </a:ln>
        </p:spPr>
      </p:sp>
      <p:sp>
        <p:nvSpPr>
          <p:cNvPr id="26" name="SUM label"/>
          <p:cNvSpPr txBox="1"/>
          <p:nvPr/>
        </p:nvSpPr>
        <p:spPr>
          <a:xfrm>
            <a:off x="7543800" y="2724912"/>
            <a:ext cx="1051560" cy="201168"/>
          </a:xfrm>
          <a:prstGeom prst="rect">
            <a:avLst/>
          </a:prstGeom>
          <a:noFill/>
          <a:ln/>
        </p:spPr>
        <p:txBody>
          <a:bodyPr wrap="square" lIns="0" tIns="0" rIns="0" bIns="0" rtlCol="0" anchor="t"/>
          <a:lstStyle/>
          <a:p>
            <a:pPr marL="0" indent="0" algn="ctr">
              <a:buNone/>
            </a:pPr>
            <a:r>
              <a:rPr lang="en-US" sz="1100" b="1" kern="0" spc="200" dirty="0">
                <a:solidFill>
                  <a:schemeClr val="accent1"/>
                </a:solidFill>
              </a:rPr>
              <a:t>SUM</a:t>
            </a:r>
            <a:endParaRPr lang="en-US" sz="1100" dirty="0"/>
          </a:p>
        </p:txBody>
      </p:sp>
      <p:sp>
        <p:nvSpPr>
          <p:cNvPr id="27" name="SUM value"/>
          <p:cNvSpPr txBox="1"/>
          <p:nvPr/>
        </p:nvSpPr>
        <p:spPr>
          <a:xfrm>
            <a:off x="7543800" y="2971800"/>
            <a:ext cx="1051560" cy="457200"/>
          </a:xfrm>
          <a:prstGeom prst="rect">
            <a:avLst/>
          </a:prstGeom>
          <a:noFill/>
          <a:ln/>
        </p:spPr>
        <p:txBody>
          <a:bodyPr wrap="square" lIns="0" tIns="0" rIns="0" bIns="0" rtlCol="0" anchor="t"/>
          <a:lstStyle/>
          <a:p>
            <a:pPr marL="0" indent="0" algn="ctr">
              <a:buNone/>
            </a:pPr>
            <a:r>
              <a:rPr lang="en-US" sz="2600" b="1" dirty="0">
                <a:solidFill>
                  <a:schemeClr val="bg1"/>
                </a:solidFill>
                <a:latin typeface="Courier New" pitchFamily="34" charset="0"/>
                <a:ea typeface="Courier New" pitchFamily="34" charset="-122"/>
                <a:cs typeface="Courier New" pitchFamily="34" charset="-120"/>
              </a:rPr>
              <a:t>1</a:t>
            </a:r>
            <a:endParaRPr lang="en-US" sz="2600" dirty="0"/>
          </a:p>
        </p:txBody>
      </p:sp>
      <p:sp>
        <p:nvSpPr>
          <p:cNvPr id="28" name="Addition card 4"/>
          <p:cNvSpPr/>
          <p:nvPr/>
        </p:nvSpPr>
        <p:spPr>
          <a:xfrm>
            <a:off x="9052560" y="1463040"/>
            <a:ext cx="2560320" cy="2331720"/>
          </a:xfrm>
          <a:prstGeom prst="roundRect">
            <a:avLst>
              <a:gd name="adj" fmla="val 4706"/>
            </a:avLst>
          </a:prstGeom>
          <a:solidFill>
            <a:schemeClr val="tx2">
              <a:alpha val="85000"/>
            </a:schemeClr>
          </a:solidFill>
          <a:ln w="9525">
            <a:solidFill>
              <a:schemeClr val="accent4">
                <a:alpha val="65000"/>
              </a:schemeClr>
            </a:solidFill>
            <a:prstDash val="solid"/>
          </a:ln>
        </p:spPr>
      </p:sp>
      <p:sp>
        <p:nvSpPr>
          <p:cNvPr id="29" name="Equation 4"/>
          <p:cNvSpPr txBox="1"/>
          <p:nvPr/>
        </p:nvSpPr>
        <p:spPr>
          <a:xfrm>
            <a:off x="9052560" y="1737360"/>
            <a:ext cx="2560320" cy="640080"/>
          </a:xfrm>
          <a:prstGeom prst="rect">
            <a:avLst/>
          </a:prstGeom>
          <a:noFill/>
          <a:ln/>
        </p:spPr>
        <p:txBody>
          <a:bodyPr wrap="square" lIns="0" tIns="0" rIns="0" bIns="0" rtlCol="0" anchor="t"/>
          <a:lstStyle/>
          <a:p>
            <a:pPr marL="0" indent="0" algn="ctr">
              <a:buNone/>
            </a:pPr>
            <a:r>
              <a:rPr lang="en-US" sz="2800" b="1" dirty="0">
                <a:solidFill>
                  <a:schemeClr val="bg1"/>
                </a:solidFill>
                <a:latin typeface="Courier New" pitchFamily="34" charset="0"/>
                <a:ea typeface="Courier New" pitchFamily="34" charset="-122"/>
                <a:cs typeface="Courier New" pitchFamily="34" charset="-120"/>
              </a:rPr>
              <a:t>1 + 1 = </a:t>
            </a:r>
            <a:r>
              <a:rPr lang="en-US" sz="2800" b="1" dirty="0">
                <a:solidFill>
                  <a:schemeClr val="accent4"/>
                </a:solidFill>
                <a:latin typeface="Courier New" pitchFamily="34" charset="0"/>
                <a:ea typeface="Courier New" pitchFamily="34" charset="-122"/>
                <a:cs typeface="Courier New" pitchFamily="34" charset="-120"/>
              </a:rPr>
              <a:t>1</a:t>
            </a:r>
            <a:r>
              <a:rPr lang="en-US" sz="2800" b="1" dirty="0">
                <a:solidFill>
                  <a:schemeClr val="accent1"/>
                </a:solidFill>
                <a:latin typeface="Courier New" pitchFamily="34" charset="0"/>
                <a:ea typeface="Courier New" pitchFamily="34" charset="-122"/>
                <a:cs typeface="Courier New" pitchFamily="34" charset="-120"/>
              </a:rPr>
              <a:t>0</a:t>
            </a:r>
            <a:endParaRPr lang="en-US" sz="2800" dirty="0"/>
          </a:p>
        </p:txBody>
      </p:sp>
      <p:sp>
        <p:nvSpPr>
          <p:cNvPr id="30" name="CARRY chip 4"/>
          <p:cNvSpPr/>
          <p:nvPr/>
        </p:nvSpPr>
        <p:spPr>
          <a:xfrm>
            <a:off x="9235440" y="2651760"/>
            <a:ext cx="1051560" cy="868680"/>
          </a:xfrm>
          <a:prstGeom prst="roundRect">
            <a:avLst>
              <a:gd name="adj" fmla="val 10526"/>
            </a:avLst>
          </a:prstGeom>
          <a:solidFill>
            <a:schemeClr val="accent4">
              <a:alpha val="30000"/>
            </a:schemeClr>
          </a:solidFill>
          <a:ln w="12700">
            <a:solidFill>
              <a:schemeClr val="accent4">
                <a:alpha val="80000"/>
              </a:schemeClr>
            </a:solidFill>
            <a:prstDash val="solid"/>
          </a:ln>
        </p:spPr>
      </p:sp>
      <p:sp>
        <p:nvSpPr>
          <p:cNvPr id="31" name="CARRY label"/>
          <p:cNvSpPr txBox="1"/>
          <p:nvPr/>
        </p:nvSpPr>
        <p:spPr>
          <a:xfrm>
            <a:off x="9235440" y="2724912"/>
            <a:ext cx="1051560" cy="201168"/>
          </a:xfrm>
          <a:prstGeom prst="rect">
            <a:avLst/>
          </a:prstGeom>
          <a:noFill/>
          <a:ln/>
        </p:spPr>
        <p:txBody>
          <a:bodyPr wrap="square" lIns="0" tIns="0" rIns="0" bIns="0" rtlCol="0" anchor="t"/>
          <a:lstStyle/>
          <a:p>
            <a:pPr marL="0" indent="0" algn="ctr">
              <a:buNone/>
            </a:pPr>
            <a:r>
              <a:rPr lang="en-US" sz="1100" b="1" kern="0" spc="200" dirty="0">
                <a:solidFill>
                  <a:schemeClr val="accent4"/>
                </a:solidFill>
              </a:rPr>
              <a:t>CARRY</a:t>
            </a:r>
            <a:endParaRPr lang="en-US" sz="1100" dirty="0"/>
          </a:p>
        </p:txBody>
      </p:sp>
      <p:sp>
        <p:nvSpPr>
          <p:cNvPr id="32" name="CARRY value"/>
          <p:cNvSpPr txBox="1"/>
          <p:nvPr/>
        </p:nvSpPr>
        <p:spPr>
          <a:xfrm>
            <a:off x="9235440" y="2971800"/>
            <a:ext cx="1051560" cy="457200"/>
          </a:xfrm>
          <a:prstGeom prst="rect">
            <a:avLst/>
          </a:prstGeom>
          <a:noFill/>
          <a:ln/>
        </p:spPr>
        <p:txBody>
          <a:bodyPr wrap="square" lIns="0" tIns="0" rIns="0" bIns="0" rtlCol="0" anchor="t"/>
          <a:lstStyle/>
          <a:p>
            <a:pPr marL="0" indent="0" algn="ctr">
              <a:buNone/>
            </a:pPr>
            <a:r>
              <a:rPr lang="en-US" sz="2600" b="1" dirty="0">
                <a:solidFill>
                  <a:schemeClr val="bg1"/>
                </a:solidFill>
                <a:latin typeface="Courier New" pitchFamily="34" charset="0"/>
                <a:ea typeface="Courier New" pitchFamily="34" charset="-122"/>
                <a:cs typeface="Courier New" pitchFamily="34" charset="-120"/>
              </a:rPr>
              <a:t>1</a:t>
            </a:r>
            <a:endParaRPr lang="en-US" sz="2600" dirty="0"/>
          </a:p>
        </p:txBody>
      </p:sp>
      <p:sp>
        <p:nvSpPr>
          <p:cNvPr id="33" name="SUM chip 4"/>
          <p:cNvSpPr/>
          <p:nvPr/>
        </p:nvSpPr>
        <p:spPr>
          <a:xfrm>
            <a:off x="10378440" y="2651760"/>
            <a:ext cx="1051560" cy="868680"/>
          </a:xfrm>
          <a:prstGeom prst="roundRect">
            <a:avLst>
              <a:gd name="adj" fmla="val 10526"/>
            </a:avLst>
          </a:prstGeom>
          <a:solidFill>
            <a:schemeClr val="accent1">
              <a:alpha val="8000"/>
            </a:schemeClr>
          </a:solidFill>
          <a:ln w="12700">
            <a:solidFill>
              <a:schemeClr val="accent1">
                <a:alpha val="40000"/>
              </a:schemeClr>
            </a:solidFill>
            <a:prstDash val="solid"/>
          </a:ln>
        </p:spPr>
      </p:sp>
      <p:sp>
        <p:nvSpPr>
          <p:cNvPr id="34" name="SUM label"/>
          <p:cNvSpPr txBox="1"/>
          <p:nvPr/>
        </p:nvSpPr>
        <p:spPr>
          <a:xfrm>
            <a:off x="10378440" y="2724912"/>
            <a:ext cx="1051560" cy="201168"/>
          </a:xfrm>
          <a:prstGeom prst="rect">
            <a:avLst/>
          </a:prstGeom>
          <a:noFill/>
          <a:ln/>
        </p:spPr>
        <p:txBody>
          <a:bodyPr wrap="square" lIns="0" tIns="0" rIns="0" bIns="0" rtlCol="0" anchor="t"/>
          <a:lstStyle/>
          <a:p>
            <a:pPr marL="0" indent="0" algn="ctr">
              <a:buNone/>
            </a:pPr>
            <a:r>
              <a:rPr lang="en-US" sz="1100" b="1" kern="0" spc="200" dirty="0">
                <a:solidFill>
                  <a:schemeClr val="accent1"/>
                </a:solidFill>
              </a:rPr>
              <a:t>SUM</a:t>
            </a:r>
            <a:endParaRPr lang="en-US" sz="1100" dirty="0"/>
          </a:p>
        </p:txBody>
      </p:sp>
      <p:sp>
        <p:nvSpPr>
          <p:cNvPr id="35" name="SUM value"/>
          <p:cNvSpPr txBox="1"/>
          <p:nvPr/>
        </p:nvSpPr>
        <p:spPr>
          <a:xfrm>
            <a:off x="10378440" y="2971800"/>
            <a:ext cx="1051560" cy="457200"/>
          </a:xfrm>
          <a:prstGeom prst="rect">
            <a:avLst/>
          </a:prstGeom>
          <a:noFill/>
          <a:ln/>
        </p:spPr>
        <p:txBody>
          <a:bodyPr wrap="square" lIns="0" tIns="0" rIns="0" bIns="0" rtlCol="0" anchor="t"/>
          <a:lstStyle/>
          <a:p>
            <a:pPr marL="0" indent="0" algn="ctr">
              <a:buNone/>
            </a:pPr>
            <a:r>
              <a:rPr lang="en-US" sz="2600" b="1" dirty="0">
                <a:solidFill>
                  <a:schemeClr val="bg1"/>
                </a:solidFill>
                <a:latin typeface="Courier New" pitchFamily="34" charset="0"/>
                <a:ea typeface="Courier New" pitchFamily="34" charset="-122"/>
                <a:cs typeface="Courier New" pitchFamily="34" charset="-120"/>
              </a:rPr>
              <a:t>0</a:t>
            </a:r>
            <a:endParaRPr lang="en-US" sz="2600" dirty="0"/>
          </a:p>
        </p:txBody>
      </p:sp>
      <p:sp>
        <p:nvSpPr>
          <p:cNvPr id="36" name="Worked example panel"/>
          <p:cNvSpPr/>
          <p:nvPr/>
        </p:nvSpPr>
        <p:spPr>
          <a:xfrm>
            <a:off x="548640" y="4069080"/>
            <a:ext cx="4754880" cy="2103120"/>
          </a:xfrm>
          <a:prstGeom prst="roundRect">
            <a:avLst>
              <a:gd name="adj" fmla="val 5217"/>
            </a:avLst>
          </a:prstGeom>
          <a:solidFill>
            <a:schemeClr val="tx2">
              <a:alpha val="85000"/>
            </a:schemeClr>
          </a:solidFill>
          <a:ln w="9525">
            <a:solidFill>
              <a:schemeClr val="accent1">
                <a:alpha val="40000"/>
              </a:schemeClr>
            </a:solidFill>
            <a:prstDash val="solid"/>
          </a:ln>
        </p:spPr>
      </p:sp>
      <p:sp>
        <p:nvSpPr>
          <p:cNvPr id="37" name="Example label"/>
          <p:cNvSpPr txBox="1"/>
          <p:nvPr/>
        </p:nvSpPr>
        <p:spPr>
          <a:xfrm>
            <a:off x="822960" y="4224528"/>
            <a:ext cx="4206240" cy="274320"/>
          </a:xfrm>
          <a:prstGeom prst="rect">
            <a:avLst/>
          </a:prstGeom>
          <a:noFill/>
          <a:ln/>
        </p:spPr>
        <p:txBody>
          <a:bodyPr wrap="square" lIns="0" tIns="0" rIns="0" bIns="0" rtlCol="0" anchor="t"/>
          <a:lstStyle/>
          <a:p>
            <a:pPr marL="0" indent="0">
              <a:buNone/>
            </a:pPr>
            <a:r>
              <a:rPr lang="en-US" sz="1100" b="1" kern="0" spc="300" dirty="0">
                <a:solidFill>
                  <a:schemeClr val="accent1"/>
                </a:solidFill>
              </a:rPr>
              <a:t>COLUMN ADDITION  ·  1 + 1</a:t>
            </a:r>
            <a:endParaRPr lang="en-US" sz="1100" dirty="0"/>
          </a:p>
        </p:txBody>
      </p:sp>
      <p:sp>
        <p:nvSpPr>
          <p:cNvPr id="38" name="Worked example"/>
          <p:cNvSpPr txBox="1"/>
          <p:nvPr/>
        </p:nvSpPr>
        <p:spPr>
          <a:xfrm>
            <a:off x="868680" y="4572000"/>
            <a:ext cx="1828800" cy="1508760"/>
          </a:xfrm>
          <a:prstGeom prst="rect">
            <a:avLst/>
          </a:prstGeom>
          <a:noFill/>
          <a:ln/>
        </p:spPr>
        <p:txBody>
          <a:bodyPr wrap="square" lIns="0" tIns="0" rIns="0" bIns="0" rtlCol="0" anchor="t"/>
          <a:lstStyle/>
          <a:p>
            <a:pPr marL="0" indent="0">
              <a:buNone/>
            </a:pPr>
            <a:r>
              <a:rPr lang="en-US" sz="2400" b="1" dirty="0">
                <a:solidFill>
                  <a:schemeClr val="bg1"/>
                </a:solidFill>
                <a:latin typeface="Courier New" pitchFamily="34" charset="0"/>
                <a:ea typeface="Courier New" pitchFamily="34" charset="-122"/>
                <a:cs typeface="Courier New" pitchFamily="34" charset="-120"/>
              </a:rPr>
              <a:t>  1</a:t>
            </a:r>
            <a:endParaRPr lang="en-US" sz="2400" dirty="0"/>
          </a:p>
          <a:p>
            <a:pPr marL="0" indent="0">
              <a:buNone/>
            </a:pPr>
            <a:r>
              <a:rPr lang="en-US" sz="2400" b="1" dirty="0">
                <a:solidFill>
                  <a:schemeClr val="bg1"/>
                </a:solidFill>
                <a:latin typeface="Courier New" pitchFamily="34" charset="0"/>
                <a:ea typeface="Courier New" pitchFamily="34" charset="-122"/>
                <a:cs typeface="Courier New" pitchFamily="34" charset="-120"/>
              </a:rPr>
              <a:t>+ 1</a:t>
            </a:r>
            <a:endParaRPr lang="en-US" sz="2400" dirty="0"/>
          </a:p>
          <a:p>
            <a:pPr marL="0" indent="0">
              <a:buNone/>
            </a:pPr>
            <a:r>
              <a:rPr lang="en-US" sz="2400" b="1" dirty="0">
                <a:solidFill>
                  <a:schemeClr val="bg1"/>
                </a:solidFill>
                <a:latin typeface="Courier New" pitchFamily="34" charset="0"/>
                <a:ea typeface="Courier New" pitchFamily="34" charset="-122"/>
                <a:cs typeface="Courier New" pitchFamily="34" charset="-120"/>
              </a:rPr>
              <a:t>───</a:t>
            </a:r>
            <a:endParaRPr lang="en-US" sz="2400" dirty="0"/>
          </a:p>
          <a:p>
            <a:pPr marL="0" indent="0">
              <a:buNone/>
            </a:pPr>
            <a:r>
              <a:rPr lang="en-US" sz="2400" b="1" dirty="0">
                <a:solidFill>
                  <a:schemeClr val="accent4"/>
                </a:solidFill>
                <a:latin typeface="Courier New" pitchFamily="34" charset="0"/>
                <a:ea typeface="Courier New" pitchFamily="34" charset="-122"/>
                <a:cs typeface="Courier New" pitchFamily="34" charset="-120"/>
              </a:rPr>
              <a:t>1</a:t>
            </a:r>
            <a:r>
              <a:rPr lang="en-US" sz="2400" b="1" dirty="0">
                <a:solidFill>
                  <a:schemeClr val="accent1"/>
                </a:solidFill>
                <a:latin typeface="Courier New" pitchFamily="34" charset="0"/>
                <a:ea typeface="Courier New" pitchFamily="34" charset="-122"/>
                <a:cs typeface="Courier New" pitchFamily="34" charset="-120"/>
              </a:rPr>
              <a:t>0</a:t>
            </a:r>
            <a:endParaRPr lang="en-US" sz="2400" dirty="0"/>
          </a:p>
        </p:txBody>
      </p:sp>
      <p:sp>
        <p:nvSpPr>
          <p:cNvPr id="39" name="Example annotation"/>
          <p:cNvSpPr txBox="1"/>
          <p:nvPr/>
        </p:nvSpPr>
        <p:spPr>
          <a:xfrm>
            <a:off x="2743200" y="5349240"/>
            <a:ext cx="2468880" cy="640080"/>
          </a:xfrm>
          <a:prstGeom prst="rect">
            <a:avLst/>
          </a:prstGeom>
          <a:noFill/>
          <a:ln/>
        </p:spPr>
        <p:txBody>
          <a:bodyPr wrap="square" lIns="0" tIns="0" rIns="0" bIns="0" rtlCol="0" anchor="t"/>
          <a:lstStyle/>
          <a:p>
            <a:pPr marL="0" indent="0">
              <a:buNone/>
            </a:pPr>
            <a:r>
              <a:rPr lang="en-US" sz="1400" b="1" dirty="0">
                <a:solidFill>
                  <a:schemeClr val="accent4"/>
                </a:solidFill>
              </a:rPr>
              <a:t>1 = Carry → next column</a:t>
            </a:r>
            <a:endParaRPr lang="en-US" sz="1400" dirty="0"/>
          </a:p>
          <a:p>
            <a:pPr marL="0" indent="0">
              <a:buNone/>
            </a:pPr>
            <a:r>
              <a:rPr lang="en-US" sz="1400" b="1" dirty="0">
                <a:solidFill>
                  <a:schemeClr val="accent1"/>
                </a:solidFill>
              </a:rPr>
              <a:t>0 = Sum → this column</a:t>
            </a:r>
            <a:endParaRPr lang="en-US" sz="1400" dirty="0"/>
          </a:p>
        </p:txBody>
      </p:sp>
      <p:sp>
        <p:nvSpPr>
          <p:cNvPr id="40" name="Sum definition card"/>
          <p:cNvSpPr/>
          <p:nvPr/>
        </p:nvSpPr>
        <p:spPr>
          <a:xfrm>
            <a:off x="5577840" y="4069080"/>
            <a:ext cx="2880360" cy="2103120"/>
          </a:xfrm>
          <a:prstGeom prst="roundRect">
            <a:avLst>
              <a:gd name="adj" fmla="val 5217"/>
            </a:avLst>
          </a:prstGeom>
          <a:solidFill>
            <a:schemeClr val="tx2">
              <a:alpha val="85000"/>
            </a:schemeClr>
          </a:solidFill>
          <a:ln w="9525">
            <a:solidFill>
              <a:schemeClr val="accent1">
                <a:alpha val="40000"/>
              </a:schemeClr>
            </a:solidFill>
            <a:prstDash val="solid"/>
          </a:ln>
        </p:spPr>
      </p:sp>
      <p:sp>
        <p:nvSpPr>
          <p:cNvPr id="41" name="Sum title"/>
          <p:cNvSpPr txBox="1"/>
          <p:nvPr/>
        </p:nvSpPr>
        <p:spPr>
          <a:xfrm>
            <a:off x="5852160" y="4297680"/>
            <a:ext cx="2377440" cy="411480"/>
          </a:xfrm>
          <a:prstGeom prst="rect">
            <a:avLst/>
          </a:prstGeom>
          <a:noFill/>
          <a:ln/>
        </p:spPr>
        <p:txBody>
          <a:bodyPr wrap="square" lIns="0" tIns="0" rIns="0" bIns="0" rtlCol="0" anchor="t"/>
          <a:lstStyle/>
          <a:p>
            <a:pPr marL="0" indent="0">
              <a:buNone/>
            </a:pPr>
            <a:r>
              <a:rPr lang="en-US" sz="2400" b="1" dirty="0">
                <a:solidFill>
                  <a:schemeClr val="accent1"/>
                </a:solidFill>
              </a:rPr>
              <a:t>Sum</a:t>
            </a:r>
            <a:endParaRPr lang="en-US" sz="2400" dirty="0"/>
          </a:p>
        </p:txBody>
      </p:sp>
      <p:sp>
        <p:nvSpPr>
          <p:cNvPr id="42" name="Sum definition"/>
          <p:cNvSpPr txBox="1"/>
          <p:nvPr/>
        </p:nvSpPr>
        <p:spPr>
          <a:xfrm>
            <a:off x="5852160" y="4846320"/>
            <a:ext cx="2377440" cy="1188720"/>
          </a:xfrm>
          <a:prstGeom prst="rect">
            <a:avLst/>
          </a:prstGeom>
          <a:noFill/>
          <a:ln/>
        </p:spPr>
        <p:txBody>
          <a:bodyPr wrap="square" lIns="0" tIns="0" rIns="0" bIns="0" rtlCol="0" anchor="t"/>
          <a:lstStyle/>
          <a:p>
            <a:pPr marL="0" indent="0">
              <a:buNone/>
            </a:pPr>
            <a:r>
              <a:rPr lang="en-US" sz="1500" dirty="0">
                <a:solidFill>
                  <a:schemeClr val="bg2"/>
                </a:solidFill>
              </a:rPr>
              <a:t>The result bit that stays in the current column. It is 1 when exactly one input is 1.</a:t>
            </a:r>
            <a:endParaRPr lang="en-US" sz="1500" dirty="0"/>
          </a:p>
        </p:txBody>
      </p:sp>
      <p:sp>
        <p:nvSpPr>
          <p:cNvPr id="43" name="Carry definition card"/>
          <p:cNvSpPr/>
          <p:nvPr/>
        </p:nvSpPr>
        <p:spPr>
          <a:xfrm>
            <a:off x="8732520" y="4069080"/>
            <a:ext cx="2880360" cy="2103120"/>
          </a:xfrm>
          <a:prstGeom prst="roundRect">
            <a:avLst>
              <a:gd name="adj" fmla="val 5217"/>
            </a:avLst>
          </a:prstGeom>
          <a:solidFill>
            <a:schemeClr val="tx2">
              <a:alpha val="85000"/>
            </a:schemeClr>
          </a:solidFill>
          <a:ln w="9525">
            <a:solidFill>
              <a:schemeClr val="accent1">
                <a:alpha val="40000"/>
              </a:schemeClr>
            </a:solidFill>
            <a:prstDash val="solid"/>
          </a:ln>
        </p:spPr>
      </p:sp>
      <p:sp>
        <p:nvSpPr>
          <p:cNvPr id="44" name="Carry title"/>
          <p:cNvSpPr txBox="1"/>
          <p:nvPr/>
        </p:nvSpPr>
        <p:spPr>
          <a:xfrm>
            <a:off x="9006840" y="4297680"/>
            <a:ext cx="2377440" cy="411480"/>
          </a:xfrm>
          <a:prstGeom prst="rect">
            <a:avLst/>
          </a:prstGeom>
          <a:noFill/>
          <a:ln/>
        </p:spPr>
        <p:txBody>
          <a:bodyPr wrap="square" lIns="0" tIns="0" rIns="0" bIns="0" rtlCol="0" anchor="t"/>
          <a:lstStyle/>
          <a:p>
            <a:pPr marL="0" indent="0">
              <a:buNone/>
            </a:pPr>
            <a:r>
              <a:rPr lang="en-US" sz="2400" b="1" dirty="0">
                <a:solidFill>
                  <a:schemeClr val="accent4"/>
                </a:solidFill>
              </a:rPr>
              <a:t>Carry</a:t>
            </a:r>
            <a:endParaRPr lang="en-US" sz="2400" dirty="0"/>
          </a:p>
        </p:txBody>
      </p:sp>
      <p:sp>
        <p:nvSpPr>
          <p:cNvPr id="45" name="Carry definition"/>
          <p:cNvSpPr txBox="1"/>
          <p:nvPr/>
        </p:nvSpPr>
        <p:spPr>
          <a:xfrm>
            <a:off x="9006840" y="4846320"/>
            <a:ext cx="2377440" cy="1188720"/>
          </a:xfrm>
          <a:prstGeom prst="rect">
            <a:avLst/>
          </a:prstGeom>
          <a:noFill/>
          <a:ln/>
        </p:spPr>
        <p:txBody>
          <a:bodyPr wrap="square" lIns="0" tIns="0" rIns="0" bIns="0" rtlCol="0" anchor="t"/>
          <a:lstStyle/>
          <a:p>
            <a:pPr marL="0" indent="0">
              <a:buNone/>
            </a:pPr>
            <a:r>
              <a:rPr lang="en-US" sz="1500" dirty="0">
                <a:solidFill>
                  <a:schemeClr val="bg2"/>
                </a:solidFill>
              </a:rPr>
              <a:t>The bit passed to the next higher column. It is 1 only when both inputs are 1.</a:t>
            </a:r>
            <a:endParaRPr lang="en-US" sz="1500" dirty="0"/>
          </a:p>
        </p:txBody>
      </p:sp>
      <p:sp>
        <p:nvSpPr>
          <p:cNvPr id="46"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label"/>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100" b="1" kern="0" spc="300" dirty="0">
                <a:solidFill>
                  <a:schemeClr val="accent1"/>
                </a:solidFill>
              </a:rPr>
              <a:t>HALF ADDER</a:t>
            </a:r>
            <a:endParaRPr lang="en-US" sz="1100" dirty="0"/>
          </a:p>
        </p:txBody>
      </p:sp>
      <p:sp>
        <p:nvSpPr>
          <p:cNvPr id="3" name="Text 0"/>
          <p:cNvSpPr>
            <a:spLocks noGrp="1"/>
          </p:cNvSpPr>
          <p:nvPr>
            <p:ph type="title" idx="100" hasCustomPrompt="1"/>
          </p:nvPr>
        </p:nvSpPr>
        <p:spPr>
          <a:xfrm>
            <a:off x="548640" y="566928"/>
            <a:ext cx="9601200" cy="731520"/>
          </a:xfrm>
          <a:prstGeom prst="rect">
            <a:avLst/>
          </a:prstGeom>
          <a:noFill/>
          <a:ln/>
        </p:spPr>
        <p:txBody>
          <a:bodyPr wrap="square" lIns="0" tIns="0" rIns="0" bIns="0" rtlCol="0" anchor="ctr"/>
          <a:lstStyle/>
          <a:p>
            <a:pPr marL="0" indent="0" algn="l">
              <a:buNone/>
            </a:pPr>
            <a:r>
              <a:rPr lang="en-US" sz="3400" b="1" dirty="0">
                <a:solidFill>
                  <a:schemeClr val="bg1"/>
                </a:solidFill>
              </a:rPr>
              <a:t>Half Adder</a:t>
            </a:r>
            <a:endParaRPr lang="en-US" sz="3400" dirty="0"/>
          </a:p>
        </p:txBody>
      </p:sp>
      <p:sp>
        <p:nvSpPr>
          <p:cNvPr id="4" name="Definition card"/>
          <p:cNvSpPr/>
          <p:nvPr/>
        </p:nvSpPr>
        <p:spPr>
          <a:xfrm>
            <a:off x="548640" y="1508760"/>
            <a:ext cx="4480560" cy="1554480"/>
          </a:xfrm>
          <a:prstGeom prst="roundRect">
            <a:avLst>
              <a:gd name="adj" fmla="val 7059"/>
            </a:avLst>
          </a:prstGeom>
          <a:solidFill>
            <a:schemeClr val="tx2">
              <a:alpha val="85000"/>
            </a:schemeClr>
          </a:solidFill>
          <a:ln w="9525">
            <a:solidFill>
              <a:schemeClr val="accent1">
                <a:alpha val="40000"/>
              </a:schemeClr>
            </a:solidFill>
            <a:prstDash val="solid"/>
          </a:ln>
        </p:spPr>
      </p:sp>
      <p:sp>
        <p:nvSpPr>
          <p:cNvPr id="5" name="Definition label"/>
          <p:cNvSpPr txBox="1"/>
          <p:nvPr/>
        </p:nvSpPr>
        <p:spPr>
          <a:xfrm>
            <a:off x="822960" y="1664208"/>
            <a:ext cx="3657600" cy="228600"/>
          </a:xfrm>
          <a:prstGeom prst="rect">
            <a:avLst/>
          </a:prstGeom>
          <a:noFill/>
          <a:ln/>
        </p:spPr>
        <p:txBody>
          <a:bodyPr wrap="square" lIns="0" tIns="0" rIns="0" bIns="0" rtlCol="0" anchor="t"/>
          <a:lstStyle/>
          <a:p>
            <a:pPr marL="0" indent="0">
              <a:buNone/>
            </a:pPr>
            <a:r>
              <a:rPr lang="en-US" sz="1100" b="1" kern="0" spc="300" dirty="0">
                <a:solidFill>
                  <a:schemeClr val="accent1"/>
                </a:solidFill>
              </a:rPr>
              <a:t>DEFINITION</a:t>
            </a:r>
            <a:endParaRPr lang="en-US" sz="1100" dirty="0"/>
          </a:p>
        </p:txBody>
      </p:sp>
      <p:sp>
        <p:nvSpPr>
          <p:cNvPr id="6" name="Definition text"/>
          <p:cNvSpPr txBox="1"/>
          <p:nvPr/>
        </p:nvSpPr>
        <p:spPr>
          <a:xfrm>
            <a:off x="822960" y="1993392"/>
            <a:ext cx="3977640" cy="1005840"/>
          </a:xfrm>
          <a:prstGeom prst="rect">
            <a:avLst/>
          </a:prstGeom>
          <a:noFill/>
          <a:ln/>
        </p:spPr>
        <p:txBody>
          <a:bodyPr wrap="square" lIns="0" tIns="0" rIns="0" bIns="0" rtlCol="0" anchor="t"/>
          <a:lstStyle/>
          <a:p>
            <a:pPr marL="0" indent="0">
              <a:buNone/>
            </a:pPr>
            <a:r>
              <a:rPr lang="en-US" sz="1700" dirty="0">
                <a:solidFill>
                  <a:schemeClr val="bg1"/>
                </a:solidFill>
              </a:rPr>
              <a:t>A combinational circuit that adds two 1-bit inputs and produces a Sum and a Carry.</a:t>
            </a:r>
            <a:endParaRPr lang="en-US" sz="1700" dirty="0"/>
          </a:p>
        </p:txBody>
      </p:sp>
      <p:sp>
        <p:nvSpPr>
          <p:cNvPr id="7" name="Inputs card"/>
          <p:cNvSpPr/>
          <p:nvPr/>
        </p:nvSpPr>
        <p:spPr>
          <a:xfrm>
            <a:off x="548640" y="3246120"/>
            <a:ext cx="2148840" cy="914400"/>
          </a:xfrm>
          <a:prstGeom prst="roundRect">
            <a:avLst>
              <a:gd name="adj" fmla="val 12000"/>
            </a:avLst>
          </a:prstGeom>
          <a:solidFill>
            <a:schemeClr val="tx2">
              <a:alpha val="85000"/>
            </a:schemeClr>
          </a:solidFill>
          <a:ln w="9525">
            <a:solidFill>
              <a:schemeClr val="accent1">
                <a:alpha val="40000"/>
              </a:schemeClr>
            </a:solidFill>
            <a:prstDash val="solid"/>
          </a:ln>
        </p:spPr>
      </p:sp>
      <p:sp>
        <p:nvSpPr>
          <p:cNvPr id="8" name="Inputs label"/>
          <p:cNvSpPr txBox="1"/>
          <p:nvPr/>
        </p:nvSpPr>
        <p:spPr>
          <a:xfrm>
            <a:off x="731520" y="3355848"/>
            <a:ext cx="178308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INPUTS</a:t>
            </a:r>
            <a:endParaRPr lang="en-US" sz="1100" dirty="0"/>
          </a:p>
        </p:txBody>
      </p:sp>
      <p:sp>
        <p:nvSpPr>
          <p:cNvPr id="9" name="Inputs value"/>
          <p:cNvSpPr txBox="1"/>
          <p:nvPr/>
        </p:nvSpPr>
        <p:spPr>
          <a:xfrm>
            <a:off x="731520" y="3611880"/>
            <a:ext cx="1783080" cy="457200"/>
          </a:xfrm>
          <a:prstGeom prst="rect">
            <a:avLst/>
          </a:prstGeom>
          <a:noFill/>
          <a:ln/>
        </p:spPr>
        <p:txBody>
          <a:bodyPr wrap="square" lIns="0" tIns="0" rIns="0" bIns="0" rtlCol="0" anchor="t"/>
          <a:lstStyle/>
          <a:p>
            <a:pPr marL="0" indent="0">
              <a:buNone/>
            </a:pPr>
            <a:r>
              <a:rPr lang="en-US" sz="2200" b="1" dirty="0">
                <a:solidFill>
                  <a:schemeClr val="bg1"/>
                </a:solidFill>
                <a:latin typeface="Courier New" pitchFamily="34" charset="0"/>
                <a:ea typeface="Courier New" pitchFamily="34" charset="-122"/>
                <a:cs typeface="Courier New" pitchFamily="34" charset="-120"/>
              </a:rPr>
              <a:t>A, B</a:t>
            </a:r>
            <a:endParaRPr lang="en-US" sz="2200" dirty="0"/>
          </a:p>
        </p:txBody>
      </p:sp>
      <p:sp>
        <p:nvSpPr>
          <p:cNvPr id="10" name="Outputs card"/>
          <p:cNvSpPr/>
          <p:nvPr/>
        </p:nvSpPr>
        <p:spPr>
          <a:xfrm>
            <a:off x="2880360" y="3246120"/>
            <a:ext cx="2148840" cy="914400"/>
          </a:xfrm>
          <a:prstGeom prst="roundRect">
            <a:avLst>
              <a:gd name="adj" fmla="val 12000"/>
            </a:avLst>
          </a:prstGeom>
          <a:solidFill>
            <a:schemeClr val="tx2">
              <a:alpha val="85000"/>
            </a:schemeClr>
          </a:solidFill>
          <a:ln w="9525">
            <a:solidFill>
              <a:schemeClr val="accent1">
                <a:alpha val="40000"/>
              </a:schemeClr>
            </a:solidFill>
            <a:prstDash val="solid"/>
          </a:ln>
        </p:spPr>
      </p:sp>
      <p:sp>
        <p:nvSpPr>
          <p:cNvPr id="11" name="Outputs label"/>
          <p:cNvSpPr txBox="1"/>
          <p:nvPr/>
        </p:nvSpPr>
        <p:spPr>
          <a:xfrm>
            <a:off x="3063240" y="3355848"/>
            <a:ext cx="1783080" cy="228600"/>
          </a:xfrm>
          <a:prstGeom prst="rect">
            <a:avLst/>
          </a:prstGeom>
          <a:noFill/>
          <a:ln/>
        </p:spPr>
        <p:txBody>
          <a:bodyPr wrap="square" lIns="0" tIns="0" rIns="0" bIns="0" rtlCol="0" anchor="t"/>
          <a:lstStyle/>
          <a:p>
            <a:pPr marL="0" indent="0">
              <a:buNone/>
            </a:pPr>
            <a:r>
              <a:rPr lang="en-US" sz="1100" b="1" kern="0" spc="200" dirty="0">
                <a:solidFill>
                  <a:schemeClr val="accent4"/>
                </a:solidFill>
              </a:rPr>
              <a:t>OUTPUTS</a:t>
            </a:r>
            <a:endParaRPr lang="en-US" sz="1100" dirty="0"/>
          </a:p>
        </p:txBody>
      </p:sp>
      <p:sp>
        <p:nvSpPr>
          <p:cNvPr id="12" name="Outputs value"/>
          <p:cNvSpPr txBox="1"/>
          <p:nvPr/>
        </p:nvSpPr>
        <p:spPr>
          <a:xfrm>
            <a:off x="3063240" y="3611880"/>
            <a:ext cx="1783080" cy="457200"/>
          </a:xfrm>
          <a:prstGeom prst="rect">
            <a:avLst/>
          </a:prstGeom>
          <a:noFill/>
          <a:ln/>
        </p:spPr>
        <p:txBody>
          <a:bodyPr wrap="square" lIns="0" tIns="0" rIns="0" bIns="0" rtlCol="0" anchor="t"/>
          <a:lstStyle/>
          <a:p>
            <a:pPr marL="0" indent="0">
              <a:buNone/>
            </a:pPr>
            <a:r>
              <a:rPr lang="en-US" sz="2200" b="1" dirty="0">
                <a:solidFill>
                  <a:schemeClr val="bg1"/>
                </a:solidFill>
                <a:latin typeface="Courier New" pitchFamily="34" charset="0"/>
                <a:ea typeface="Courier New" pitchFamily="34" charset="-122"/>
                <a:cs typeface="Courier New" pitchFamily="34" charset="-120"/>
              </a:rPr>
              <a:t>S, C</a:t>
            </a:r>
            <a:endParaRPr lang="en-US" sz="2200" dirty="0"/>
          </a:p>
        </p:txBody>
      </p:sp>
      <p:sp>
        <p:nvSpPr>
          <p:cNvPr id="13" name="Equations card"/>
          <p:cNvSpPr/>
          <p:nvPr/>
        </p:nvSpPr>
        <p:spPr>
          <a:xfrm>
            <a:off x="548640" y="4343400"/>
            <a:ext cx="4480560" cy="1828800"/>
          </a:xfrm>
          <a:prstGeom prst="roundRect">
            <a:avLst>
              <a:gd name="adj" fmla="val 6000"/>
            </a:avLst>
          </a:prstGeom>
          <a:solidFill>
            <a:schemeClr val="tx2">
              <a:alpha val="85000"/>
            </a:schemeClr>
          </a:solidFill>
          <a:ln w="9525">
            <a:solidFill>
              <a:schemeClr val="accent1">
                <a:alpha val="40000"/>
              </a:schemeClr>
            </a:solidFill>
            <a:prstDash val="solid"/>
          </a:ln>
        </p:spPr>
      </p:sp>
      <p:sp>
        <p:nvSpPr>
          <p:cNvPr id="14" name="Equations label"/>
          <p:cNvSpPr txBox="1"/>
          <p:nvPr/>
        </p:nvSpPr>
        <p:spPr>
          <a:xfrm>
            <a:off x="822960" y="4498848"/>
            <a:ext cx="3657600" cy="228600"/>
          </a:xfrm>
          <a:prstGeom prst="rect">
            <a:avLst/>
          </a:prstGeom>
          <a:noFill/>
          <a:ln/>
        </p:spPr>
        <p:txBody>
          <a:bodyPr wrap="square" lIns="0" tIns="0" rIns="0" bIns="0" rtlCol="0" anchor="t"/>
          <a:lstStyle/>
          <a:p>
            <a:pPr marL="0" indent="0">
              <a:buNone/>
            </a:pPr>
            <a:r>
              <a:rPr lang="en-US" sz="1100" b="1" kern="0" spc="300" dirty="0">
                <a:solidFill>
                  <a:schemeClr val="accent1"/>
                </a:solidFill>
              </a:rPr>
              <a:t>BOOLEAN EQUATIONS</a:t>
            </a:r>
            <a:endParaRPr lang="en-US" sz="1100" dirty="0"/>
          </a:p>
        </p:txBody>
      </p:sp>
      <p:sp>
        <p:nvSpPr>
          <p:cNvPr id="15" name="Sum equation"/>
          <p:cNvSpPr txBox="1"/>
          <p:nvPr/>
        </p:nvSpPr>
        <p:spPr>
          <a:xfrm>
            <a:off x="822960" y="4956048"/>
            <a:ext cx="4023360" cy="457200"/>
          </a:xfrm>
          <a:prstGeom prst="rect">
            <a:avLst/>
          </a:prstGeom>
          <a:noFill/>
          <a:ln/>
        </p:spPr>
        <p:txBody>
          <a:bodyPr wrap="square" lIns="0" tIns="0" rIns="0" bIns="0" rtlCol="0" anchor="t"/>
          <a:lstStyle/>
          <a:p>
            <a:pPr marL="0" indent="0">
              <a:buNone/>
            </a:pPr>
            <a:r>
              <a:rPr lang="en-US" sz="2600" b="1" dirty="0">
                <a:solidFill>
                  <a:schemeClr val="accent1"/>
                </a:solidFill>
                <a:latin typeface="Courier New" pitchFamily="34" charset="0"/>
                <a:ea typeface="Courier New" pitchFamily="34" charset="-122"/>
                <a:cs typeface="Courier New" pitchFamily="34" charset="-120"/>
              </a:rPr>
              <a:t>Sum   </a:t>
            </a:r>
            <a:r>
              <a:rPr lang="en-US" sz="2600" b="1" dirty="0">
                <a:solidFill>
                  <a:schemeClr val="bg1"/>
                </a:solidFill>
                <a:latin typeface="Courier New" pitchFamily="34" charset="0"/>
                <a:ea typeface="Courier New" pitchFamily="34" charset="-122"/>
                <a:cs typeface="Courier New" pitchFamily="34" charset="-120"/>
              </a:rPr>
              <a:t>= A ⊕ B</a:t>
            </a:r>
            <a:endParaRPr lang="en-US" sz="2600" dirty="0"/>
          </a:p>
        </p:txBody>
      </p:sp>
      <p:sp>
        <p:nvSpPr>
          <p:cNvPr id="16" name="Carry equation"/>
          <p:cNvSpPr txBox="1"/>
          <p:nvPr/>
        </p:nvSpPr>
        <p:spPr>
          <a:xfrm>
            <a:off x="822960" y="5550408"/>
            <a:ext cx="4023360" cy="457200"/>
          </a:xfrm>
          <a:prstGeom prst="rect">
            <a:avLst/>
          </a:prstGeom>
          <a:noFill/>
          <a:ln/>
        </p:spPr>
        <p:txBody>
          <a:bodyPr wrap="square" lIns="0" tIns="0" rIns="0" bIns="0" rtlCol="0" anchor="t"/>
          <a:lstStyle/>
          <a:p>
            <a:pPr marL="0" indent="0">
              <a:buNone/>
            </a:pPr>
            <a:r>
              <a:rPr lang="en-US" sz="2600" b="1" dirty="0">
                <a:solidFill>
                  <a:schemeClr val="accent4"/>
                </a:solidFill>
                <a:latin typeface="Courier New" pitchFamily="34" charset="0"/>
                <a:ea typeface="Courier New" pitchFamily="34" charset="-122"/>
                <a:cs typeface="Courier New" pitchFamily="34" charset="-120"/>
              </a:rPr>
              <a:t>Carry </a:t>
            </a:r>
            <a:r>
              <a:rPr lang="en-US" sz="2600" b="1" dirty="0">
                <a:solidFill>
                  <a:schemeClr val="bg1"/>
                </a:solidFill>
                <a:latin typeface="Courier New" pitchFamily="34" charset="0"/>
                <a:ea typeface="Courier New" pitchFamily="34" charset="-122"/>
                <a:cs typeface="Courier New" pitchFamily="34" charset="-120"/>
              </a:rPr>
              <a:t>= A · B</a:t>
            </a:r>
            <a:endParaRPr lang="en-US" sz="2600" dirty="0"/>
          </a:p>
        </p:txBody>
      </p:sp>
      <p:pic>
        <p:nvPicPr>
          <p:cNvPr id="18" name="XOR and AND gate diagrams" descr="XOR gate produces Sum, AND gate produces Carry"/>
          <p:cNvPicPr>
            <a:picLocks noChangeAspect="1"/>
          </p:cNvPicPr>
          <p:nvPr/>
        </p:nvPicPr>
        <p:blipFill>
          <a:blip r:embed="rId3"/>
          <a:stretch>
            <a:fillRect/>
          </a:stretch>
        </p:blipFill>
        <p:spPr>
          <a:xfrm>
            <a:off x="5303520" y="3657600"/>
            <a:ext cx="6309360" cy="2331720"/>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4</a:t>
            </a:fld>
            <a:endParaRPr lang="en-US"/>
          </a:p>
        </p:txBody>
      </p:sp>
      <p:pic>
        <p:nvPicPr>
          <p:cNvPr id="26" name="Picture 25" descr="half_adder_circuit.png"/>
          <p:cNvPicPr>
            <a:picLocks noChangeAspect="1"/>
          </p:cNvPicPr>
          <p:nvPr/>
        </p:nvPicPr>
        <p:blipFill>
          <a:blip r:embed="rId4"/>
          <a:stretch>
            <a:fillRect/>
          </a:stretch>
        </p:blipFill>
        <p:spPr>
          <a:xfrm>
            <a:off x="6080760" y="1463040"/>
            <a:ext cx="4754880" cy="1876926"/>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label"/>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100" b="1" kern="0" spc="300" dirty="0">
                <a:solidFill>
                  <a:schemeClr val="accent1"/>
                </a:solidFill>
              </a:rPr>
              <a:t>HALF ADDER</a:t>
            </a:r>
            <a:endParaRPr lang="en-US" sz="1100" dirty="0"/>
          </a:p>
        </p:txBody>
      </p:sp>
      <p:sp>
        <p:nvSpPr>
          <p:cNvPr id="3" name="Text 0"/>
          <p:cNvSpPr>
            <a:spLocks noGrp="1"/>
          </p:cNvSpPr>
          <p:nvPr>
            <p:ph type="title" idx="100" hasCustomPrompt="1"/>
          </p:nvPr>
        </p:nvSpPr>
        <p:spPr>
          <a:xfrm>
            <a:off x="548640" y="566928"/>
            <a:ext cx="9601200" cy="731520"/>
          </a:xfrm>
          <a:prstGeom prst="rect">
            <a:avLst/>
          </a:prstGeom>
          <a:noFill/>
          <a:ln/>
        </p:spPr>
        <p:txBody>
          <a:bodyPr wrap="square" lIns="0" tIns="0" rIns="0" bIns="0" rtlCol="0" anchor="ctr"/>
          <a:lstStyle/>
          <a:p>
            <a:pPr marL="0" indent="0" algn="l">
              <a:buNone/>
            </a:pPr>
            <a:r>
              <a:rPr lang="en-US" sz="3400" b="1" dirty="0">
                <a:solidFill>
                  <a:schemeClr val="bg1"/>
                </a:solidFill>
              </a:rPr>
              <a:t>Half Adder Truth Table</a:t>
            </a:r>
            <a:endParaRPr lang="en-US" sz="3400" dirty="0"/>
          </a:p>
        </p:txBody>
      </p:sp>
      <p:graphicFrame>
        <p:nvGraphicFramePr>
          <p:cNvPr id="6" name="Half adder truth table"/>
          <p:cNvGraphicFramePr>
            <a:graphicFrameLocks noGrp="1"/>
          </p:cNvGraphicFramePr>
          <p:nvPr>
            <p:extLst>
              <p:ext uri="{D42A27DB-BD31-4B8C-83A1-F6EECF244321}">
                <p14:modId xmlns:p14="http://schemas.microsoft.com/office/powerpoint/2010/main" val="1579011935"/>
              </p:ext>
            </p:extLst>
          </p:nvPr>
        </p:nvGraphicFramePr>
        <p:xfrm>
          <a:off x="548640" y="1554480"/>
          <a:ext cx="6035040" cy="347472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548640">
                <a:tc>
                  <a:txBody>
                    <a:bodyPr/>
                    <a:lstStyle/>
                    <a:p>
                      <a:pPr marL="0" indent="0" algn="ctr">
                        <a:buNone/>
                      </a:pPr>
                      <a:r>
                        <a:rPr lang="en-US" sz="1600" b="1" dirty="0">
                          <a:solidFill>
                            <a:schemeClr val="bg1"/>
                          </a:solidFill>
                        </a:rPr>
                        <a:t>A</a:t>
                      </a:r>
                      <a:endParaRPr lang="en-US" sz="1600" dirty="0"/>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2">
                        <a:alpha val="45000"/>
                      </a:schemeClr>
                    </a:solidFill>
                  </a:tcPr>
                </a:tc>
                <a:tc>
                  <a:txBody>
                    <a:bodyPr/>
                    <a:lstStyle/>
                    <a:p>
                      <a:pPr marL="0" indent="0" algn="ctr">
                        <a:buNone/>
                      </a:pPr>
                      <a:r>
                        <a:rPr lang="en-US" sz="1600" b="1" dirty="0">
                          <a:solidFill>
                            <a:schemeClr val="bg1"/>
                          </a:solidFill>
                        </a:rPr>
                        <a:t>B</a:t>
                      </a:r>
                      <a:endParaRPr lang="en-US" sz="1600" dirty="0"/>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2">
                        <a:alpha val="45000"/>
                      </a:schemeClr>
                    </a:solidFill>
                  </a:tcPr>
                </a:tc>
                <a:tc>
                  <a:txBody>
                    <a:bodyPr/>
                    <a:lstStyle/>
                    <a:p>
                      <a:pPr marL="0" indent="0" algn="ctr">
                        <a:buNone/>
                      </a:pPr>
                      <a:r>
                        <a:rPr lang="en-US" sz="1600" b="1" dirty="0">
                          <a:solidFill>
                            <a:schemeClr val="accent1"/>
                          </a:solidFill>
                        </a:rPr>
                        <a:t>SUM</a:t>
                      </a:r>
                      <a:endParaRPr lang="en-US" sz="1600" dirty="0"/>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2">
                        <a:alpha val="45000"/>
                      </a:schemeClr>
                    </a:solidFill>
                  </a:tcPr>
                </a:tc>
                <a:tc>
                  <a:txBody>
                    <a:bodyPr/>
                    <a:lstStyle/>
                    <a:p>
                      <a:pPr marL="0" indent="0" algn="ctr">
                        <a:buNone/>
                      </a:pPr>
                      <a:r>
                        <a:rPr lang="en-US" sz="1600" b="1" dirty="0">
                          <a:solidFill>
                            <a:schemeClr val="accent4"/>
                          </a:solidFill>
                        </a:rPr>
                        <a:t>CARRY</a:t>
                      </a:r>
                      <a:endParaRPr lang="en-US" sz="1600" dirty="0"/>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2">
                        <a:alpha val="45000"/>
                      </a:schemeClr>
                    </a:solidFill>
                  </a:tcPr>
                </a:tc>
                <a:extLst>
                  <a:ext uri="{0D108BD9-81ED-4DB2-BD59-A6C34878D82A}">
                    <a16:rowId xmlns:a16="http://schemas.microsoft.com/office/drawing/2014/main" val="10000"/>
                  </a:ext>
                </a:extLst>
              </a:tr>
              <a:tr h="731520">
                <a:tc>
                  <a:txBody>
                    <a:bodyPr/>
                    <a:lstStyle/>
                    <a:p>
                      <a:pPr marL="0" indent="0" algn="ctr">
                        <a:buNone/>
                      </a:pPr>
                      <a:r>
                        <a:rPr lang="en-US" sz="2800" b="1" dirty="0">
                          <a:solidFill>
                            <a:schemeClr val="bg1"/>
                          </a:solidFill>
                          <a:latin typeface="Courier New" pitchFamily="34" charset="0"/>
                          <a:ea typeface="Courier New" pitchFamily="34" charset="-122"/>
                          <a:cs typeface="Courier New" pitchFamily="34" charset="-120"/>
                        </a:rPr>
                        <a:t>0</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800" b="1" dirty="0">
                          <a:solidFill>
                            <a:schemeClr val="bg1"/>
                          </a:solidFill>
                          <a:latin typeface="Courier New" pitchFamily="34" charset="0"/>
                          <a:ea typeface="Courier New" pitchFamily="34" charset="-122"/>
                          <a:cs typeface="Courier New" pitchFamily="34" charset="-120"/>
                        </a:rPr>
                        <a:t>0</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800" b="1" dirty="0">
                          <a:solidFill>
                            <a:schemeClr val="bg2"/>
                          </a:solidFill>
                          <a:latin typeface="Courier New" pitchFamily="34" charset="0"/>
                          <a:ea typeface="Courier New" pitchFamily="34" charset="-122"/>
                          <a:cs typeface="Courier New" pitchFamily="34" charset="-120"/>
                        </a:rPr>
                        <a:t>0</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800" b="1" dirty="0">
                          <a:solidFill>
                            <a:schemeClr val="bg2"/>
                          </a:solidFill>
                          <a:latin typeface="Courier New" pitchFamily="34" charset="0"/>
                          <a:ea typeface="Courier New" pitchFamily="34" charset="-122"/>
                          <a:cs typeface="Courier New" pitchFamily="34" charset="-120"/>
                        </a:rPr>
                        <a:t>0</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extLst>
                  <a:ext uri="{0D108BD9-81ED-4DB2-BD59-A6C34878D82A}">
                    <a16:rowId xmlns:a16="http://schemas.microsoft.com/office/drawing/2014/main" val="10001"/>
                  </a:ext>
                </a:extLst>
              </a:tr>
              <a:tr h="731520">
                <a:tc>
                  <a:txBody>
                    <a:bodyPr/>
                    <a:lstStyle/>
                    <a:p>
                      <a:pPr marL="0" indent="0" algn="ctr">
                        <a:buNone/>
                      </a:pPr>
                      <a:r>
                        <a:rPr lang="en-US" sz="2800" b="1" dirty="0">
                          <a:solidFill>
                            <a:schemeClr val="bg1"/>
                          </a:solidFill>
                          <a:latin typeface="Courier New" pitchFamily="34" charset="0"/>
                          <a:ea typeface="Courier New" pitchFamily="34" charset="-122"/>
                          <a:cs typeface="Courier New" pitchFamily="34" charset="-120"/>
                        </a:rPr>
                        <a:t>0</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800" b="1" dirty="0">
                          <a:solidFill>
                            <a:schemeClr val="bg1"/>
                          </a:solidFill>
                          <a:latin typeface="Courier New" pitchFamily="34" charset="0"/>
                          <a:ea typeface="Courier New" pitchFamily="34" charset="-122"/>
                          <a:cs typeface="Courier New" pitchFamily="34" charset="-120"/>
                        </a:rPr>
                        <a:t>1</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800" b="1" dirty="0">
                          <a:solidFill>
                            <a:schemeClr val="accent1"/>
                          </a:solidFill>
                          <a:latin typeface="Courier New" pitchFamily="34" charset="0"/>
                          <a:ea typeface="Courier New" pitchFamily="34" charset="-122"/>
                          <a:cs typeface="Courier New" pitchFamily="34" charset="-120"/>
                        </a:rPr>
                        <a:t>1</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1">
                        <a:alpha val="28000"/>
                      </a:schemeClr>
                    </a:solidFill>
                  </a:tcPr>
                </a:tc>
                <a:tc>
                  <a:txBody>
                    <a:bodyPr/>
                    <a:lstStyle/>
                    <a:p>
                      <a:pPr marL="0" indent="0" algn="ctr">
                        <a:buNone/>
                      </a:pPr>
                      <a:r>
                        <a:rPr lang="en-US" sz="2800" b="1" dirty="0">
                          <a:solidFill>
                            <a:schemeClr val="bg2"/>
                          </a:solidFill>
                          <a:latin typeface="Courier New" pitchFamily="34" charset="0"/>
                          <a:ea typeface="Courier New" pitchFamily="34" charset="-122"/>
                          <a:cs typeface="Courier New" pitchFamily="34" charset="-120"/>
                        </a:rPr>
                        <a:t>0</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extLst>
                  <a:ext uri="{0D108BD9-81ED-4DB2-BD59-A6C34878D82A}">
                    <a16:rowId xmlns:a16="http://schemas.microsoft.com/office/drawing/2014/main" val="10002"/>
                  </a:ext>
                </a:extLst>
              </a:tr>
              <a:tr h="731520">
                <a:tc>
                  <a:txBody>
                    <a:bodyPr/>
                    <a:lstStyle/>
                    <a:p>
                      <a:pPr marL="0" indent="0" algn="ctr">
                        <a:buNone/>
                      </a:pPr>
                      <a:r>
                        <a:rPr lang="en-US" sz="2800" b="1" dirty="0">
                          <a:solidFill>
                            <a:schemeClr val="bg1"/>
                          </a:solidFill>
                          <a:latin typeface="Courier New" pitchFamily="34" charset="0"/>
                          <a:ea typeface="Courier New" pitchFamily="34" charset="-122"/>
                          <a:cs typeface="Courier New" pitchFamily="34" charset="-120"/>
                        </a:rPr>
                        <a:t>1</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800" b="1" dirty="0">
                          <a:solidFill>
                            <a:schemeClr val="bg1"/>
                          </a:solidFill>
                          <a:latin typeface="Courier New" pitchFamily="34" charset="0"/>
                          <a:ea typeface="Courier New" pitchFamily="34" charset="-122"/>
                          <a:cs typeface="Courier New" pitchFamily="34" charset="-120"/>
                        </a:rPr>
                        <a:t>0</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800" b="1" dirty="0">
                          <a:solidFill>
                            <a:schemeClr val="accent1"/>
                          </a:solidFill>
                          <a:latin typeface="Courier New" pitchFamily="34" charset="0"/>
                          <a:ea typeface="Courier New" pitchFamily="34" charset="-122"/>
                          <a:cs typeface="Courier New" pitchFamily="34" charset="-120"/>
                        </a:rPr>
                        <a:t>1</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1">
                        <a:alpha val="28000"/>
                      </a:schemeClr>
                    </a:solidFill>
                  </a:tcPr>
                </a:tc>
                <a:tc>
                  <a:txBody>
                    <a:bodyPr/>
                    <a:lstStyle/>
                    <a:p>
                      <a:pPr marL="0" indent="0" algn="ctr">
                        <a:buNone/>
                      </a:pPr>
                      <a:r>
                        <a:rPr lang="en-US" sz="2800" b="1" dirty="0">
                          <a:solidFill>
                            <a:schemeClr val="bg2"/>
                          </a:solidFill>
                          <a:latin typeface="Courier New" pitchFamily="34" charset="0"/>
                          <a:ea typeface="Courier New" pitchFamily="34" charset="-122"/>
                          <a:cs typeface="Courier New" pitchFamily="34" charset="-120"/>
                        </a:rPr>
                        <a:t>0</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extLst>
                  <a:ext uri="{0D108BD9-81ED-4DB2-BD59-A6C34878D82A}">
                    <a16:rowId xmlns:a16="http://schemas.microsoft.com/office/drawing/2014/main" val="10003"/>
                  </a:ext>
                </a:extLst>
              </a:tr>
              <a:tr h="731520">
                <a:tc>
                  <a:txBody>
                    <a:bodyPr/>
                    <a:lstStyle/>
                    <a:p>
                      <a:pPr marL="0" indent="0" algn="ctr">
                        <a:buNone/>
                      </a:pPr>
                      <a:r>
                        <a:rPr lang="en-US" sz="2800" b="1" dirty="0">
                          <a:solidFill>
                            <a:schemeClr val="bg1"/>
                          </a:solidFill>
                          <a:latin typeface="Courier New" pitchFamily="34" charset="0"/>
                          <a:ea typeface="Courier New" pitchFamily="34" charset="-122"/>
                          <a:cs typeface="Courier New" pitchFamily="34" charset="-120"/>
                        </a:rPr>
                        <a:t>1</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800" b="1" dirty="0">
                          <a:solidFill>
                            <a:schemeClr val="bg1"/>
                          </a:solidFill>
                          <a:latin typeface="Courier New" pitchFamily="34" charset="0"/>
                          <a:ea typeface="Courier New" pitchFamily="34" charset="-122"/>
                          <a:cs typeface="Courier New" pitchFamily="34" charset="-120"/>
                        </a:rPr>
                        <a:t>1</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800" b="1" dirty="0">
                          <a:solidFill>
                            <a:schemeClr val="bg2"/>
                          </a:solidFill>
                          <a:latin typeface="Courier New" pitchFamily="34" charset="0"/>
                          <a:ea typeface="Courier New" pitchFamily="34" charset="-122"/>
                          <a:cs typeface="Courier New" pitchFamily="34" charset="-120"/>
                        </a:rPr>
                        <a:t>0</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800" b="1" dirty="0">
                          <a:solidFill>
                            <a:schemeClr val="accent4"/>
                          </a:solidFill>
                          <a:latin typeface="Courier New" pitchFamily="34" charset="0"/>
                          <a:ea typeface="Courier New" pitchFamily="34" charset="-122"/>
                          <a:cs typeface="Courier New" pitchFamily="34" charset="-120"/>
                        </a:rPr>
                        <a:t>1</a:t>
                      </a:r>
                      <a:endParaRPr lang="en-US" sz="28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4">
                        <a:alpha val="32000"/>
                      </a:schemeClr>
                    </a:solidFill>
                  </a:tcPr>
                </a:tc>
                <a:extLst>
                  <a:ext uri="{0D108BD9-81ED-4DB2-BD59-A6C34878D82A}">
                    <a16:rowId xmlns:a16="http://schemas.microsoft.com/office/drawing/2014/main" val="10004"/>
                  </a:ext>
                </a:extLst>
              </a:tr>
            </a:tbl>
          </a:graphicData>
        </a:graphic>
      </p:graphicFrame>
      <p:sp>
        <p:nvSpPr>
          <p:cNvPr id="5" name="Truth table caption"/>
          <p:cNvSpPr txBox="1"/>
          <p:nvPr/>
        </p:nvSpPr>
        <p:spPr>
          <a:xfrm>
            <a:off x="548640" y="5486400"/>
            <a:ext cx="6035040" cy="731520"/>
          </a:xfrm>
          <a:prstGeom prst="rect">
            <a:avLst/>
          </a:prstGeom>
          <a:noFill/>
          <a:ln/>
        </p:spPr>
        <p:txBody>
          <a:bodyPr wrap="square" lIns="0" tIns="0" rIns="0" bIns="0" rtlCol="0" anchor="t"/>
          <a:lstStyle/>
          <a:p>
            <a:pPr marL="0" indent="0">
              <a:buNone/>
            </a:pPr>
            <a:r>
              <a:rPr lang="en-US" sz="1600" b="1" dirty="0">
                <a:solidFill>
                  <a:schemeClr val="accent1"/>
                </a:solidFill>
              </a:rPr>
              <a:t>Sum = 1 </a:t>
            </a:r>
            <a:r>
              <a:rPr lang="en-US" sz="1600" dirty="0">
                <a:solidFill>
                  <a:schemeClr val="bg1"/>
                </a:solidFill>
              </a:rPr>
              <a:t>when the inputs differ (XOR)</a:t>
            </a:r>
            <a:endParaRPr lang="en-US" sz="1600" dirty="0"/>
          </a:p>
          <a:p>
            <a:pPr marL="0" indent="0">
              <a:buNone/>
            </a:pPr>
            <a:r>
              <a:rPr lang="en-US" sz="1600" b="1" dirty="0">
                <a:solidFill>
                  <a:schemeClr val="accent4"/>
                </a:solidFill>
              </a:rPr>
              <a:t>Carry = 1 </a:t>
            </a:r>
            <a:r>
              <a:rPr lang="en-US" sz="1600" dirty="0">
                <a:solidFill>
                  <a:schemeClr val="bg1"/>
                </a:solidFill>
              </a:rPr>
              <a:t>only when both inputs are 1 (AND)</a:t>
            </a:r>
            <a:endParaRPr lang="en-US" sz="1600" dirty="0"/>
          </a:p>
        </p:txBody>
      </p:sp>
      <p:pic>
        <p:nvPicPr>
          <p:cNvPr id="4" name="Half adder timing diagram" descr="Digital waveforms of A, B, Sum and Carry for the four input combinations"/>
          <p:cNvPicPr>
            <a:picLocks noChangeAspect="1"/>
          </p:cNvPicPr>
          <p:nvPr/>
        </p:nvPicPr>
        <p:blipFill>
          <a:blip r:embed="rId3"/>
          <a:stretch>
            <a:fillRect/>
          </a:stretch>
        </p:blipFill>
        <p:spPr>
          <a:xfrm>
            <a:off x="6949440" y="1554480"/>
            <a:ext cx="4663440" cy="2864685"/>
          </a:xfrm>
          <a:prstGeom prst="rect">
            <a:avLst/>
          </a:prstGeom>
        </p:spPr>
      </p:pic>
      <p:sp>
        <p:nvSpPr>
          <p:cNvPr id="7" name="Timing caption"/>
          <p:cNvSpPr txBox="1"/>
          <p:nvPr/>
        </p:nvSpPr>
        <p:spPr>
          <a:xfrm>
            <a:off x="6949440" y="4510605"/>
            <a:ext cx="4663440" cy="274320"/>
          </a:xfrm>
          <a:prstGeom prst="rect">
            <a:avLst/>
          </a:prstGeom>
          <a:noFill/>
          <a:ln/>
        </p:spPr>
        <p:txBody>
          <a:bodyPr wrap="square" lIns="0" tIns="0" rIns="0" bIns="0" rtlCol="0" anchor="t"/>
          <a:lstStyle/>
          <a:p>
            <a:pPr marL="0" indent="0">
              <a:buNone/>
            </a:pPr>
            <a:r>
              <a:rPr lang="en-US" sz="1200" dirty="0">
                <a:solidFill>
                  <a:schemeClr val="bg2"/>
                </a:solidFill>
              </a:rPr>
              <a:t>Waveforms for inputs 00, 01, 10, 11</a:t>
            </a:r>
            <a:endParaRPr lang="en-US" sz="1200" dirty="0"/>
          </a:p>
        </p:txBody>
      </p:sp>
      <p:sp>
        <p:nvSpPr>
          <p:cNvPr id="8" name="Pattern card"/>
          <p:cNvSpPr/>
          <p:nvPr/>
        </p:nvSpPr>
        <p:spPr>
          <a:xfrm>
            <a:off x="6949440" y="4937760"/>
            <a:ext cx="4663440" cy="1234440"/>
          </a:xfrm>
          <a:prstGeom prst="roundRect">
            <a:avLst>
              <a:gd name="adj" fmla="val 8889"/>
            </a:avLst>
          </a:prstGeom>
          <a:solidFill>
            <a:schemeClr val="tx2">
              <a:alpha val="85000"/>
            </a:schemeClr>
          </a:solidFill>
          <a:ln w="9525">
            <a:solidFill>
              <a:schemeClr val="accent4">
                <a:alpha val="50000"/>
              </a:schemeClr>
            </a:solidFill>
            <a:prstDash val="solid"/>
          </a:ln>
        </p:spPr>
      </p:sp>
      <p:sp>
        <p:nvSpPr>
          <p:cNvPr id="9" name="Pattern label"/>
          <p:cNvSpPr txBox="1"/>
          <p:nvPr/>
        </p:nvSpPr>
        <p:spPr>
          <a:xfrm>
            <a:off x="7223760" y="5074920"/>
            <a:ext cx="4114800" cy="228600"/>
          </a:xfrm>
          <a:prstGeom prst="rect">
            <a:avLst/>
          </a:prstGeom>
          <a:noFill/>
          <a:ln/>
        </p:spPr>
        <p:txBody>
          <a:bodyPr wrap="square" lIns="0" tIns="0" rIns="0" bIns="0" rtlCol="0" anchor="t"/>
          <a:lstStyle/>
          <a:p>
            <a:pPr marL="0" indent="0">
              <a:buNone/>
            </a:pPr>
            <a:r>
              <a:rPr lang="en-US" sz="1100" b="1" kern="0" spc="300" dirty="0">
                <a:solidFill>
                  <a:schemeClr val="accent4"/>
                </a:solidFill>
              </a:rPr>
              <a:t>THE OUTPUT CHANGE</a:t>
            </a:r>
            <a:endParaRPr lang="en-US" sz="1100" dirty="0"/>
          </a:p>
        </p:txBody>
      </p:sp>
      <p:sp>
        <p:nvSpPr>
          <p:cNvPr id="10" name="Pattern text"/>
          <p:cNvSpPr txBox="1"/>
          <p:nvPr/>
        </p:nvSpPr>
        <p:spPr>
          <a:xfrm>
            <a:off x="7223760" y="5376672"/>
            <a:ext cx="4114800" cy="685800"/>
          </a:xfrm>
          <a:prstGeom prst="rect">
            <a:avLst/>
          </a:prstGeom>
          <a:noFill/>
          <a:ln/>
        </p:spPr>
        <p:txBody>
          <a:bodyPr wrap="square" lIns="0" tIns="0" rIns="0" bIns="0" rtlCol="0" anchor="t"/>
          <a:lstStyle/>
          <a:p>
            <a:pPr marL="0" indent="0">
              <a:buNone/>
            </a:pPr>
            <a:r>
              <a:rPr lang="en-US" sz="1600" dirty="0">
                <a:solidFill>
                  <a:schemeClr val="bg1"/>
                </a:solidFill>
              </a:rPr>
              <a:t>At 1 + 1 the Sum drops back to 0 and the Carry rises to 1.</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label"/>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100" b="1" kern="0" spc="300" dirty="0">
                <a:solidFill>
                  <a:schemeClr val="accent1"/>
                </a:solidFill>
              </a:rPr>
              <a:t>HALF ADDER</a:t>
            </a:r>
            <a:endParaRPr lang="en-US" sz="1100" dirty="0"/>
          </a:p>
        </p:txBody>
      </p:sp>
      <p:sp>
        <p:nvSpPr>
          <p:cNvPr id="3" name="Text 0"/>
          <p:cNvSpPr>
            <a:spLocks noGrp="1"/>
          </p:cNvSpPr>
          <p:nvPr>
            <p:ph type="title" idx="100" hasCustomPrompt="1"/>
          </p:nvPr>
        </p:nvSpPr>
        <p:spPr>
          <a:xfrm>
            <a:off x="548640" y="566928"/>
            <a:ext cx="9601200" cy="731520"/>
          </a:xfrm>
          <a:prstGeom prst="rect">
            <a:avLst/>
          </a:prstGeom>
          <a:noFill/>
          <a:ln/>
        </p:spPr>
        <p:txBody>
          <a:bodyPr wrap="square" lIns="0" tIns="0" rIns="0" bIns="0" rtlCol="0" anchor="ctr"/>
          <a:lstStyle/>
          <a:p>
            <a:pPr marL="0" indent="0" algn="l">
              <a:buNone/>
            </a:pPr>
            <a:r>
              <a:rPr lang="en-US" sz="3400" b="1" dirty="0">
                <a:solidFill>
                  <a:schemeClr val="bg1"/>
                </a:solidFill>
              </a:rPr>
              <a:t>Half Adder Design in Logisim</a:t>
            </a:r>
            <a:endParaRPr lang="en-US" sz="3400" dirty="0"/>
          </a:p>
        </p:txBody>
      </p:sp>
      <p:sp>
        <p:nvSpPr>
          <p:cNvPr id="4" name="Step 1"/>
          <p:cNvSpPr/>
          <p:nvPr/>
        </p:nvSpPr>
        <p:spPr>
          <a:xfrm>
            <a:off x="548640" y="1600200"/>
            <a:ext cx="457200" cy="457200"/>
          </a:xfrm>
          <a:prstGeom prst="ellipse">
            <a:avLst/>
          </a:prstGeom>
          <a:solidFill>
            <a:schemeClr val="accent1"/>
          </a:solidFill>
          <a:ln w="6350">
            <a:solidFill>
              <a:schemeClr val="accent1"/>
            </a:solidFill>
            <a:prstDash val="solid"/>
          </a:ln>
        </p:spPr>
      </p:sp>
      <p:sp>
        <p:nvSpPr>
          <p:cNvPr id="5" name="Step number 1"/>
          <p:cNvSpPr txBox="1"/>
          <p:nvPr/>
        </p:nvSpPr>
        <p:spPr>
          <a:xfrm>
            <a:off x="548640" y="160020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6" name="Step text 1"/>
          <p:cNvSpPr txBox="1"/>
          <p:nvPr/>
        </p:nvSpPr>
        <p:spPr>
          <a:xfrm>
            <a:off x="1188720" y="1508760"/>
            <a:ext cx="3931920" cy="685800"/>
          </a:xfrm>
          <a:prstGeom prst="rect">
            <a:avLst/>
          </a:prstGeom>
          <a:noFill/>
          <a:ln/>
        </p:spPr>
        <p:txBody>
          <a:bodyPr wrap="square" lIns="0" tIns="0" rIns="0" bIns="0" rtlCol="0" anchor="t"/>
          <a:lstStyle/>
          <a:p>
            <a:pPr marL="0" indent="0">
              <a:buNone/>
            </a:pPr>
            <a:r>
              <a:rPr lang="en-US" sz="1600" b="1" dirty="0">
                <a:solidFill>
                  <a:schemeClr val="bg1"/>
                </a:solidFill>
              </a:rPr>
              <a:t>Create the circuit</a:t>
            </a:r>
            <a:endParaRPr lang="en-US" sz="1400" dirty="0"/>
          </a:p>
          <a:p>
            <a:pPr marL="0" indent="0">
              <a:buNone/>
            </a:pPr>
            <a:r>
              <a:rPr lang="en-US" sz="1400" dirty="0">
                <a:solidFill>
                  <a:schemeClr val="bg2"/>
                </a:solidFill>
              </a:rPr>
              <a:t>File ▸ New, then name it HalfAdder</a:t>
            </a:r>
            <a:endParaRPr lang="en-US" sz="1400" dirty="0"/>
          </a:p>
        </p:txBody>
      </p:sp>
      <p:sp>
        <p:nvSpPr>
          <p:cNvPr id="7" name="Step 2"/>
          <p:cNvSpPr/>
          <p:nvPr/>
        </p:nvSpPr>
        <p:spPr>
          <a:xfrm>
            <a:off x="548640" y="2368296"/>
            <a:ext cx="457200" cy="457200"/>
          </a:xfrm>
          <a:prstGeom prst="ellipse">
            <a:avLst/>
          </a:prstGeom>
          <a:solidFill>
            <a:schemeClr val="accent1"/>
          </a:solidFill>
          <a:ln w="6350">
            <a:solidFill>
              <a:schemeClr val="accent1"/>
            </a:solidFill>
            <a:prstDash val="solid"/>
          </a:ln>
        </p:spPr>
      </p:sp>
      <p:sp>
        <p:nvSpPr>
          <p:cNvPr id="8" name="Step number 2"/>
          <p:cNvSpPr txBox="1"/>
          <p:nvPr/>
        </p:nvSpPr>
        <p:spPr>
          <a:xfrm>
            <a:off x="548640" y="2368296"/>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9" name="Step text 2"/>
          <p:cNvSpPr txBox="1"/>
          <p:nvPr/>
        </p:nvSpPr>
        <p:spPr>
          <a:xfrm>
            <a:off x="1188720" y="2276856"/>
            <a:ext cx="3931920" cy="685800"/>
          </a:xfrm>
          <a:prstGeom prst="rect">
            <a:avLst/>
          </a:prstGeom>
          <a:noFill/>
          <a:ln/>
        </p:spPr>
        <p:txBody>
          <a:bodyPr wrap="square" lIns="0" tIns="0" rIns="0" bIns="0" rtlCol="0" anchor="t"/>
          <a:lstStyle/>
          <a:p>
            <a:pPr marL="0" indent="0">
              <a:buNone/>
            </a:pPr>
            <a:r>
              <a:rPr lang="en-US" sz="1600" b="1" dirty="0">
                <a:solidFill>
                  <a:schemeClr val="bg1"/>
                </a:solidFill>
              </a:rPr>
              <a:t>Add input pins</a:t>
            </a:r>
            <a:endParaRPr lang="en-US" sz="1400" dirty="0"/>
          </a:p>
          <a:p>
            <a:pPr marL="0" indent="0">
              <a:buNone/>
            </a:pPr>
            <a:r>
              <a:rPr lang="en-US" sz="1400" dirty="0">
                <a:solidFill>
                  <a:schemeClr val="bg2"/>
                </a:solidFill>
              </a:rPr>
              <a:t>Wiring ▸ Pin: place A and B (1 bit)</a:t>
            </a:r>
            <a:endParaRPr lang="en-US" sz="1400" dirty="0"/>
          </a:p>
        </p:txBody>
      </p:sp>
      <p:sp>
        <p:nvSpPr>
          <p:cNvPr id="10" name="Step 3"/>
          <p:cNvSpPr/>
          <p:nvPr/>
        </p:nvSpPr>
        <p:spPr>
          <a:xfrm>
            <a:off x="548640" y="3136392"/>
            <a:ext cx="457200" cy="457200"/>
          </a:xfrm>
          <a:prstGeom prst="ellipse">
            <a:avLst/>
          </a:prstGeom>
          <a:solidFill>
            <a:schemeClr val="accent1"/>
          </a:solidFill>
          <a:ln w="6350">
            <a:solidFill>
              <a:schemeClr val="accent1"/>
            </a:solidFill>
            <a:prstDash val="solid"/>
          </a:ln>
        </p:spPr>
      </p:sp>
      <p:sp>
        <p:nvSpPr>
          <p:cNvPr id="11" name="Step number 3"/>
          <p:cNvSpPr txBox="1"/>
          <p:nvPr/>
        </p:nvSpPr>
        <p:spPr>
          <a:xfrm>
            <a:off x="548640" y="3136392"/>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2" name="Step text 3"/>
          <p:cNvSpPr txBox="1"/>
          <p:nvPr/>
        </p:nvSpPr>
        <p:spPr>
          <a:xfrm>
            <a:off x="1188720" y="3044952"/>
            <a:ext cx="3931920" cy="685800"/>
          </a:xfrm>
          <a:prstGeom prst="rect">
            <a:avLst/>
          </a:prstGeom>
          <a:noFill/>
          <a:ln/>
        </p:spPr>
        <p:txBody>
          <a:bodyPr wrap="square" lIns="0" tIns="0" rIns="0" bIns="0" rtlCol="0" anchor="t"/>
          <a:lstStyle/>
          <a:p>
            <a:pPr marL="0" indent="0">
              <a:buNone/>
            </a:pPr>
            <a:r>
              <a:rPr lang="en-US" sz="1600" b="1" dirty="0">
                <a:solidFill>
                  <a:schemeClr val="bg1"/>
                </a:solidFill>
              </a:rPr>
              <a:t>Place the gates</a:t>
            </a:r>
            <a:endParaRPr lang="en-US" sz="1400" dirty="0"/>
          </a:p>
          <a:p>
            <a:pPr marL="0" indent="0">
              <a:buNone/>
            </a:pPr>
            <a:r>
              <a:rPr lang="en-US" sz="1400" dirty="0">
                <a:solidFill>
                  <a:schemeClr val="bg2"/>
                </a:solidFill>
              </a:rPr>
              <a:t>Gates ▸ XOR for Sum, AND for Carry</a:t>
            </a:r>
            <a:endParaRPr lang="en-US" sz="1400" dirty="0"/>
          </a:p>
        </p:txBody>
      </p:sp>
      <p:sp>
        <p:nvSpPr>
          <p:cNvPr id="13" name="Step 4"/>
          <p:cNvSpPr/>
          <p:nvPr/>
        </p:nvSpPr>
        <p:spPr>
          <a:xfrm>
            <a:off x="548640" y="3904488"/>
            <a:ext cx="457200" cy="457200"/>
          </a:xfrm>
          <a:prstGeom prst="ellipse">
            <a:avLst/>
          </a:prstGeom>
          <a:solidFill>
            <a:schemeClr val="accent1"/>
          </a:solidFill>
          <a:ln w="6350">
            <a:solidFill>
              <a:schemeClr val="accent1"/>
            </a:solidFill>
            <a:prstDash val="solid"/>
          </a:ln>
        </p:spPr>
      </p:sp>
      <p:sp>
        <p:nvSpPr>
          <p:cNvPr id="14" name="Step number 4"/>
          <p:cNvSpPr txBox="1"/>
          <p:nvPr/>
        </p:nvSpPr>
        <p:spPr>
          <a:xfrm>
            <a:off x="548640" y="3904488"/>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15" name="Step text 4"/>
          <p:cNvSpPr txBox="1"/>
          <p:nvPr/>
        </p:nvSpPr>
        <p:spPr>
          <a:xfrm>
            <a:off x="1188720" y="3813048"/>
            <a:ext cx="3931920" cy="685800"/>
          </a:xfrm>
          <a:prstGeom prst="rect">
            <a:avLst/>
          </a:prstGeom>
          <a:noFill/>
          <a:ln/>
        </p:spPr>
        <p:txBody>
          <a:bodyPr wrap="square" lIns="0" tIns="0" rIns="0" bIns="0" rtlCol="0" anchor="t"/>
          <a:lstStyle/>
          <a:p>
            <a:pPr marL="0" indent="0">
              <a:buNone/>
            </a:pPr>
            <a:r>
              <a:rPr lang="en-US" sz="1600" b="1" dirty="0">
                <a:solidFill>
                  <a:schemeClr val="bg1"/>
                </a:solidFill>
              </a:rPr>
              <a:t>Wire the circuit</a:t>
            </a:r>
            <a:endParaRPr lang="en-US" sz="1400" dirty="0"/>
          </a:p>
          <a:p>
            <a:pPr marL="0" indent="0">
              <a:buNone/>
            </a:pPr>
            <a:r>
              <a:rPr lang="en-US" sz="1400" dirty="0">
                <a:solidFill>
                  <a:schemeClr val="bg2"/>
                </a:solidFill>
              </a:rPr>
              <a:t>Connect A and B to both gates</a:t>
            </a:r>
            <a:endParaRPr lang="en-US" sz="1400" dirty="0"/>
          </a:p>
        </p:txBody>
      </p:sp>
      <p:sp>
        <p:nvSpPr>
          <p:cNvPr id="16" name="Step 5"/>
          <p:cNvSpPr/>
          <p:nvPr/>
        </p:nvSpPr>
        <p:spPr>
          <a:xfrm>
            <a:off x="548640" y="4672584"/>
            <a:ext cx="457200" cy="457200"/>
          </a:xfrm>
          <a:prstGeom prst="ellipse">
            <a:avLst/>
          </a:prstGeom>
          <a:solidFill>
            <a:schemeClr val="accent1"/>
          </a:solidFill>
          <a:ln w="6350">
            <a:solidFill>
              <a:schemeClr val="accent1"/>
            </a:solidFill>
            <a:prstDash val="solid"/>
          </a:ln>
        </p:spPr>
      </p:sp>
      <p:sp>
        <p:nvSpPr>
          <p:cNvPr id="17" name="Step number 5"/>
          <p:cNvSpPr txBox="1"/>
          <p:nvPr/>
        </p:nvSpPr>
        <p:spPr>
          <a:xfrm>
            <a:off x="548640" y="4672584"/>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5</a:t>
            </a:r>
            <a:endParaRPr lang="en-US" sz="1600" dirty="0"/>
          </a:p>
        </p:txBody>
      </p:sp>
      <p:sp>
        <p:nvSpPr>
          <p:cNvPr id="18" name="Step text 5"/>
          <p:cNvSpPr txBox="1"/>
          <p:nvPr/>
        </p:nvSpPr>
        <p:spPr>
          <a:xfrm>
            <a:off x="1188720" y="4581144"/>
            <a:ext cx="3931920" cy="685800"/>
          </a:xfrm>
          <a:prstGeom prst="rect">
            <a:avLst/>
          </a:prstGeom>
          <a:noFill/>
          <a:ln/>
        </p:spPr>
        <p:txBody>
          <a:bodyPr wrap="square" lIns="0" tIns="0" rIns="0" bIns="0" rtlCol="0" anchor="t"/>
          <a:lstStyle/>
          <a:p>
            <a:pPr marL="0" indent="0">
              <a:buNone/>
            </a:pPr>
            <a:r>
              <a:rPr lang="en-US" sz="1600" b="1" dirty="0">
                <a:solidFill>
                  <a:schemeClr val="bg1"/>
                </a:solidFill>
              </a:rPr>
              <a:t>Add output pins</a:t>
            </a:r>
            <a:endParaRPr lang="en-US" sz="1400" dirty="0"/>
          </a:p>
          <a:p>
            <a:pPr marL="0" indent="0">
              <a:buNone/>
            </a:pPr>
            <a:r>
              <a:rPr lang="en-US" sz="1400" dirty="0">
                <a:solidFill>
                  <a:schemeClr val="bg2"/>
                </a:solidFill>
              </a:rPr>
              <a:t>Place two outputs: SUM and CARRY</a:t>
            </a:r>
            <a:endParaRPr lang="en-US" sz="1400" dirty="0"/>
          </a:p>
        </p:txBody>
      </p:sp>
      <p:sp>
        <p:nvSpPr>
          <p:cNvPr id="19" name="Step 6"/>
          <p:cNvSpPr/>
          <p:nvPr/>
        </p:nvSpPr>
        <p:spPr>
          <a:xfrm>
            <a:off x="548640" y="5440680"/>
            <a:ext cx="457200" cy="457200"/>
          </a:xfrm>
          <a:prstGeom prst="ellipse">
            <a:avLst/>
          </a:prstGeom>
          <a:solidFill>
            <a:schemeClr val="accent1"/>
          </a:solidFill>
          <a:ln w="6350">
            <a:solidFill>
              <a:schemeClr val="accent1"/>
            </a:solidFill>
            <a:prstDash val="solid"/>
          </a:ln>
        </p:spPr>
      </p:sp>
      <p:sp>
        <p:nvSpPr>
          <p:cNvPr id="20" name="Step number 6"/>
          <p:cNvSpPr txBox="1"/>
          <p:nvPr/>
        </p:nvSpPr>
        <p:spPr>
          <a:xfrm>
            <a:off x="548640" y="544068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6</a:t>
            </a:r>
            <a:endParaRPr lang="en-US" sz="1600" dirty="0"/>
          </a:p>
        </p:txBody>
      </p:sp>
      <p:sp>
        <p:nvSpPr>
          <p:cNvPr id="21" name="Step text 6"/>
          <p:cNvSpPr txBox="1"/>
          <p:nvPr/>
        </p:nvSpPr>
        <p:spPr>
          <a:xfrm>
            <a:off x="1188720" y="5349240"/>
            <a:ext cx="3931920" cy="685800"/>
          </a:xfrm>
          <a:prstGeom prst="rect">
            <a:avLst/>
          </a:prstGeom>
          <a:noFill/>
          <a:ln/>
        </p:spPr>
        <p:txBody>
          <a:bodyPr wrap="square" lIns="0" tIns="0" rIns="0" bIns="0" rtlCol="0" anchor="t"/>
          <a:lstStyle/>
          <a:p>
            <a:pPr marL="0" indent="0">
              <a:buNone/>
            </a:pPr>
            <a:r>
              <a:rPr lang="en-US" sz="1600" b="1" dirty="0">
                <a:solidFill>
                  <a:schemeClr val="bg1"/>
                </a:solidFill>
              </a:rPr>
              <a:t>Simulate</a:t>
            </a:r>
            <a:endParaRPr lang="en-US" sz="1400" dirty="0"/>
          </a:p>
          <a:p>
            <a:pPr marL="0" indent="0">
              <a:buNone/>
            </a:pPr>
            <a:r>
              <a:rPr lang="en-US" sz="1400" dirty="0">
                <a:solidFill>
                  <a:schemeClr val="bg2"/>
                </a:solidFill>
              </a:rPr>
              <a:t>Poke tool: toggle A, B, read outputs</a:t>
            </a:r>
            <a:endParaRPr lang="en-US" sz="1400" dirty="0"/>
          </a:p>
        </p:txBody>
      </p:sp>
      <p:sp>
        <p:nvSpPr>
          <p:cNvPr id="23" name="XOR note card"/>
          <p:cNvSpPr/>
          <p:nvPr/>
        </p:nvSpPr>
        <p:spPr>
          <a:xfrm>
            <a:off x="5394960" y="4983480"/>
            <a:ext cx="3017520" cy="1097280"/>
          </a:xfrm>
          <a:prstGeom prst="roundRect">
            <a:avLst>
              <a:gd name="adj" fmla="val 10000"/>
            </a:avLst>
          </a:prstGeom>
          <a:solidFill>
            <a:schemeClr val="tx2">
              <a:alpha val="85000"/>
            </a:schemeClr>
          </a:solidFill>
          <a:ln w="9525">
            <a:solidFill>
              <a:schemeClr val="accent1">
                <a:alpha val="40000"/>
              </a:schemeClr>
            </a:solidFill>
            <a:prstDash val="solid"/>
          </a:ln>
        </p:spPr>
      </p:sp>
      <p:sp>
        <p:nvSpPr>
          <p:cNvPr id="24" name="XOR note label"/>
          <p:cNvSpPr txBox="1"/>
          <p:nvPr/>
        </p:nvSpPr>
        <p:spPr>
          <a:xfrm>
            <a:off x="5577840" y="5093208"/>
            <a:ext cx="265176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XOR GATE</a:t>
            </a:r>
            <a:endParaRPr lang="en-US" sz="1100" dirty="0"/>
          </a:p>
        </p:txBody>
      </p:sp>
      <p:sp>
        <p:nvSpPr>
          <p:cNvPr id="25" name="XOR note value"/>
          <p:cNvSpPr txBox="1"/>
          <p:nvPr/>
        </p:nvSpPr>
        <p:spPr>
          <a:xfrm>
            <a:off x="5577840" y="5349240"/>
            <a:ext cx="2651760" cy="640080"/>
          </a:xfrm>
          <a:prstGeom prst="rect">
            <a:avLst/>
          </a:prstGeom>
          <a:noFill/>
          <a:ln/>
        </p:spPr>
        <p:txBody>
          <a:bodyPr wrap="square" lIns="0" tIns="0" rIns="0" bIns="0" rtlCol="0" anchor="t"/>
          <a:lstStyle/>
          <a:p>
            <a:pPr marL="0" indent="0">
              <a:buNone/>
            </a:pPr>
            <a:r>
              <a:rPr lang="en-US" sz="2200" b="1" dirty="0">
                <a:solidFill>
                  <a:schemeClr val="bg1"/>
                </a:solidFill>
                <a:latin typeface="Courier New" pitchFamily="34" charset="0"/>
                <a:ea typeface="Courier New" pitchFamily="34" charset="-122"/>
                <a:cs typeface="Courier New" pitchFamily="34" charset="-120"/>
              </a:rPr>
              <a:t>Sum = A ⊕ B</a:t>
            </a:r>
            <a:endParaRPr lang="en-US" sz="2200" dirty="0"/>
          </a:p>
        </p:txBody>
      </p:sp>
      <p:sp>
        <p:nvSpPr>
          <p:cNvPr id="26" name="AND note card"/>
          <p:cNvSpPr/>
          <p:nvPr/>
        </p:nvSpPr>
        <p:spPr>
          <a:xfrm>
            <a:off x="8595360" y="4983480"/>
            <a:ext cx="3017520" cy="1097280"/>
          </a:xfrm>
          <a:prstGeom prst="roundRect">
            <a:avLst>
              <a:gd name="adj" fmla="val 10000"/>
            </a:avLst>
          </a:prstGeom>
          <a:solidFill>
            <a:schemeClr val="tx2">
              <a:alpha val="85000"/>
            </a:schemeClr>
          </a:solidFill>
          <a:ln w="9525">
            <a:solidFill>
              <a:schemeClr val="accent1">
                <a:alpha val="40000"/>
              </a:schemeClr>
            </a:solidFill>
            <a:prstDash val="solid"/>
          </a:ln>
        </p:spPr>
      </p:sp>
      <p:sp>
        <p:nvSpPr>
          <p:cNvPr id="27" name="AND note label"/>
          <p:cNvSpPr txBox="1"/>
          <p:nvPr/>
        </p:nvSpPr>
        <p:spPr>
          <a:xfrm>
            <a:off x="8778240" y="5093208"/>
            <a:ext cx="2651760" cy="228600"/>
          </a:xfrm>
          <a:prstGeom prst="rect">
            <a:avLst/>
          </a:prstGeom>
          <a:noFill/>
          <a:ln/>
        </p:spPr>
        <p:txBody>
          <a:bodyPr wrap="square" lIns="0" tIns="0" rIns="0" bIns="0" rtlCol="0" anchor="t"/>
          <a:lstStyle/>
          <a:p>
            <a:pPr marL="0" indent="0">
              <a:buNone/>
            </a:pPr>
            <a:r>
              <a:rPr lang="en-US" sz="1100" b="1" kern="0" spc="200" dirty="0">
                <a:solidFill>
                  <a:schemeClr val="accent4"/>
                </a:solidFill>
              </a:rPr>
              <a:t>AND GATE</a:t>
            </a:r>
            <a:endParaRPr lang="en-US" sz="1100" dirty="0"/>
          </a:p>
        </p:txBody>
      </p:sp>
      <p:sp>
        <p:nvSpPr>
          <p:cNvPr id="28" name="AND note value"/>
          <p:cNvSpPr txBox="1"/>
          <p:nvPr/>
        </p:nvSpPr>
        <p:spPr>
          <a:xfrm>
            <a:off x="8778240" y="5349240"/>
            <a:ext cx="2651760" cy="640080"/>
          </a:xfrm>
          <a:prstGeom prst="rect">
            <a:avLst/>
          </a:prstGeom>
          <a:noFill/>
          <a:ln/>
        </p:spPr>
        <p:txBody>
          <a:bodyPr wrap="square" lIns="0" tIns="0" rIns="0" bIns="0" rtlCol="0" anchor="t"/>
          <a:lstStyle/>
          <a:p>
            <a:pPr marL="0" indent="0">
              <a:buNone/>
            </a:pPr>
            <a:r>
              <a:rPr lang="en-US" sz="2200" b="1" dirty="0">
                <a:solidFill>
                  <a:schemeClr val="bg1"/>
                </a:solidFill>
                <a:latin typeface="Courier New" pitchFamily="34" charset="0"/>
                <a:ea typeface="Courier New" pitchFamily="34" charset="-122"/>
                <a:cs typeface="Courier New" pitchFamily="34" charset="-120"/>
              </a:rPr>
              <a:t>Carry = A · B</a:t>
            </a:r>
            <a:endParaRPr lang="en-US" sz="2200" dirty="0"/>
          </a:p>
        </p:txBody>
      </p:sp>
      <p:sp>
        <p:nvSpPr>
          <p:cNvPr id="29"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6</a:t>
            </a:fld>
            <a:endParaRPr lang="en-US"/>
          </a:p>
        </p:txBody>
      </p:sp>
      <p:pic>
        <p:nvPicPr>
          <p:cNvPr id="30" name="Picture 29" descr="f.jpeg"/>
          <p:cNvPicPr>
            <a:picLocks noChangeAspect="1"/>
          </p:cNvPicPr>
          <p:nvPr/>
        </p:nvPicPr>
        <p:blipFill>
          <a:blip r:embed="rId4"/>
          <a:stretch>
            <a:fillRect/>
          </a:stretch>
        </p:blipFill>
        <p:spPr>
          <a:xfrm>
            <a:off x="5394960" y="1508760"/>
            <a:ext cx="6217920" cy="3219501"/>
          </a:xfrm>
          <a:prstGeom prst="rect">
            <a:avLst/>
          </a:prstGeom>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label"/>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100" b="1" kern="0" spc="300" dirty="0">
                <a:solidFill>
                  <a:schemeClr val="accent1"/>
                </a:solidFill>
              </a:rPr>
              <a:t>FULL ADDER</a:t>
            </a:r>
            <a:endParaRPr lang="en-US" sz="1100" dirty="0"/>
          </a:p>
        </p:txBody>
      </p:sp>
      <p:sp>
        <p:nvSpPr>
          <p:cNvPr id="3" name="Text 0"/>
          <p:cNvSpPr>
            <a:spLocks noGrp="1"/>
          </p:cNvSpPr>
          <p:nvPr>
            <p:ph type="title" idx="100" hasCustomPrompt="1"/>
          </p:nvPr>
        </p:nvSpPr>
        <p:spPr>
          <a:xfrm>
            <a:off x="548640" y="566928"/>
            <a:ext cx="9601200" cy="731520"/>
          </a:xfrm>
          <a:prstGeom prst="rect">
            <a:avLst/>
          </a:prstGeom>
          <a:noFill/>
          <a:ln/>
        </p:spPr>
        <p:txBody>
          <a:bodyPr wrap="square" lIns="0" tIns="0" rIns="0" bIns="0" rtlCol="0" anchor="ctr"/>
          <a:lstStyle/>
          <a:p>
            <a:pPr marL="0" indent="0" algn="l">
              <a:buNone/>
            </a:pPr>
            <a:r>
              <a:rPr lang="en-US" sz="3400" b="1" dirty="0">
                <a:solidFill>
                  <a:schemeClr val="bg1"/>
                </a:solidFill>
              </a:rPr>
              <a:t>Full Adder</a:t>
            </a:r>
            <a:endParaRPr lang="en-US" sz="3400" dirty="0"/>
          </a:p>
        </p:txBody>
      </p:sp>
      <p:sp>
        <p:nvSpPr>
          <p:cNvPr id="4" name="Definition card"/>
          <p:cNvSpPr/>
          <p:nvPr/>
        </p:nvSpPr>
        <p:spPr>
          <a:xfrm>
            <a:off x="548640" y="1508760"/>
            <a:ext cx="4663440" cy="1417320"/>
          </a:xfrm>
          <a:prstGeom prst="roundRect">
            <a:avLst>
              <a:gd name="adj" fmla="val 7742"/>
            </a:avLst>
          </a:prstGeom>
          <a:solidFill>
            <a:schemeClr val="tx2">
              <a:alpha val="85000"/>
            </a:schemeClr>
          </a:solidFill>
          <a:ln w="9525">
            <a:solidFill>
              <a:schemeClr val="accent1">
                <a:alpha val="40000"/>
              </a:schemeClr>
            </a:solidFill>
            <a:prstDash val="solid"/>
          </a:ln>
        </p:spPr>
      </p:sp>
      <p:sp>
        <p:nvSpPr>
          <p:cNvPr id="5" name="Definition label"/>
          <p:cNvSpPr txBox="1"/>
          <p:nvPr/>
        </p:nvSpPr>
        <p:spPr>
          <a:xfrm>
            <a:off x="822960" y="1645920"/>
            <a:ext cx="3657600" cy="228600"/>
          </a:xfrm>
          <a:prstGeom prst="rect">
            <a:avLst/>
          </a:prstGeom>
          <a:noFill/>
          <a:ln/>
        </p:spPr>
        <p:txBody>
          <a:bodyPr wrap="square" lIns="0" tIns="0" rIns="0" bIns="0" rtlCol="0" anchor="t"/>
          <a:lstStyle/>
          <a:p>
            <a:pPr marL="0" indent="0">
              <a:buNone/>
            </a:pPr>
            <a:r>
              <a:rPr lang="en-US" sz="1100" b="1" kern="0" spc="300" dirty="0">
                <a:solidFill>
                  <a:schemeClr val="accent1"/>
                </a:solidFill>
              </a:rPr>
              <a:t>DEFINITION</a:t>
            </a:r>
            <a:endParaRPr lang="en-US" sz="1100" dirty="0"/>
          </a:p>
        </p:txBody>
      </p:sp>
      <p:sp>
        <p:nvSpPr>
          <p:cNvPr id="6" name="Definition text"/>
          <p:cNvSpPr txBox="1"/>
          <p:nvPr/>
        </p:nvSpPr>
        <p:spPr>
          <a:xfrm>
            <a:off x="822960" y="1965960"/>
            <a:ext cx="4114800" cy="868680"/>
          </a:xfrm>
          <a:prstGeom prst="rect">
            <a:avLst/>
          </a:prstGeom>
          <a:noFill/>
          <a:ln/>
        </p:spPr>
        <p:txBody>
          <a:bodyPr wrap="square" lIns="0" tIns="0" rIns="0" bIns="0" rtlCol="0" anchor="t"/>
          <a:lstStyle/>
          <a:p>
            <a:pPr marL="0" indent="0">
              <a:buNone/>
            </a:pPr>
            <a:r>
              <a:rPr lang="en-US" sz="1700" dirty="0">
                <a:solidFill>
                  <a:schemeClr val="bg1"/>
                </a:solidFill>
              </a:rPr>
              <a:t>Adds three 1-bit inputs: A, B and the carry-in (Cin) from the previous stage.</a:t>
            </a:r>
            <a:endParaRPr lang="en-US" sz="1700" dirty="0"/>
          </a:p>
        </p:txBody>
      </p:sp>
      <p:sp>
        <p:nvSpPr>
          <p:cNvPr id="7" name="Inputs card"/>
          <p:cNvSpPr/>
          <p:nvPr/>
        </p:nvSpPr>
        <p:spPr>
          <a:xfrm>
            <a:off x="548640" y="3108960"/>
            <a:ext cx="2240280" cy="914400"/>
          </a:xfrm>
          <a:prstGeom prst="roundRect">
            <a:avLst>
              <a:gd name="adj" fmla="val 12000"/>
            </a:avLst>
          </a:prstGeom>
          <a:solidFill>
            <a:schemeClr val="tx2">
              <a:alpha val="85000"/>
            </a:schemeClr>
          </a:solidFill>
          <a:ln w="9525">
            <a:solidFill>
              <a:schemeClr val="accent1">
                <a:alpha val="40000"/>
              </a:schemeClr>
            </a:solidFill>
            <a:prstDash val="solid"/>
          </a:ln>
        </p:spPr>
      </p:sp>
      <p:sp>
        <p:nvSpPr>
          <p:cNvPr id="8" name="Inputs label"/>
          <p:cNvSpPr txBox="1"/>
          <p:nvPr/>
        </p:nvSpPr>
        <p:spPr>
          <a:xfrm>
            <a:off x="731520" y="3218688"/>
            <a:ext cx="187452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INPUTS</a:t>
            </a:r>
            <a:endParaRPr lang="en-US" sz="1100" dirty="0"/>
          </a:p>
        </p:txBody>
      </p:sp>
      <p:sp>
        <p:nvSpPr>
          <p:cNvPr id="9" name="Inputs value"/>
          <p:cNvSpPr txBox="1"/>
          <p:nvPr/>
        </p:nvSpPr>
        <p:spPr>
          <a:xfrm>
            <a:off x="731520" y="3474720"/>
            <a:ext cx="1874520" cy="457200"/>
          </a:xfrm>
          <a:prstGeom prst="rect">
            <a:avLst/>
          </a:prstGeom>
          <a:noFill/>
          <a:ln/>
        </p:spPr>
        <p:txBody>
          <a:bodyPr wrap="square" lIns="0" tIns="0" rIns="0" bIns="0" rtlCol="0" anchor="t"/>
          <a:lstStyle/>
          <a:p>
            <a:pPr marL="0" indent="0">
              <a:buNone/>
            </a:pPr>
            <a:r>
              <a:rPr lang="en-US" sz="2200" b="1" dirty="0">
                <a:solidFill>
                  <a:schemeClr val="bg1"/>
                </a:solidFill>
                <a:latin typeface="Courier New" pitchFamily="34" charset="0"/>
                <a:ea typeface="Courier New" pitchFamily="34" charset="-122"/>
                <a:cs typeface="Courier New" pitchFamily="34" charset="-120"/>
              </a:rPr>
              <a:t>A, B, Cin</a:t>
            </a:r>
            <a:endParaRPr lang="en-US" sz="2200" dirty="0"/>
          </a:p>
        </p:txBody>
      </p:sp>
      <p:sp>
        <p:nvSpPr>
          <p:cNvPr id="10" name="Outputs card"/>
          <p:cNvSpPr/>
          <p:nvPr/>
        </p:nvSpPr>
        <p:spPr>
          <a:xfrm>
            <a:off x="2971800" y="3108960"/>
            <a:ext cx="2240280" cy="914400"/>
          </a:xfrm>
          <a:prstGeom prst="roundRect">
            <a:avLst>
              <a:gd name="adj" fmla="val 12000"/>
            </a:avLst>
          </a:prstGeom>
          <a:solidFill>
            <a:schemeClr val="tx2">
              <a:alpha val="85000"/>
            </a:schemeClr>
          </a:solidFill>
          <a:ln w="9525">
            <a:solidFill>
              <a:schemeClr val="accent1">
                <a:alpha val="40000"/>
              </a:schemeClr>
            </a:solidFill>
            <a:prstDash val="solid"/>
          </a:ln>
        </p:spPr>
      </p:sp>
      <p:sp>
        <p:nvSpPr>
          <p:cNvPr id="11" name="Outputs label"/>
          <p:cNvSpPr txBox="1"/>
          <p:nvPr/>
        </p:nvSpPr>
        <p:spPr>
          <a:xfrm>
            <a:off x="3154680" y="3218688"/>
            <a:ext cx="1874520" cy="228600"/>
          </a:xfrm>
          <a:prstGeom prst="rect">
            <a:avLst/>
          </a:prstGeom>
          <a:noFill/>
          <a:ln/>
        </p:spPr>
        <p:txBody>
          <a:bodyPr wrap="square" lIns="0" tIns="0" rIns="0" bIns="0" rtlCol="0" anchor="t"/>
          <a:lstStyle/>
          <a:p>
            <a:pPr marL="0" indent="0">
              <a:buNone/>
            </a:pPr>
            <a:r>
              <a:rPr lang="en-US" sz="1100" b="1" kern="0" spc="200" dirty="0">
                <a:solidFill>
                  <a:schemeClr val="accent4"/>
                </a:solidFill>
              </a:rPr>
              <a:t>OUTPUTS</a:t>
            </a:r>
            <a:endParaRPr lang="en-US" sz="1100" dirty="0"/>
          </a:p>
        </p:txBody>
      </p:sp>
      <p:sp>
        <p:nvSpPr>
          <p:cNvPr id="12" name="Outputs value"/>
          <p:cNvSpPr txBox="1"/>
          <p:nvPr/>
        </p:nvSpPr>
        <p:spPr>
          <a:xfrm>
            <a:off x="3154680" y="3474720"/>
            <a:ext cx="1874520" cy="457200"/>
          </a:xfrm>
          <a:prstGeom prst="rect">
            <a:avLst/>
          </a:prstGeom>
          <a:noFill/>
          <a:ln/>
        </p:spPr>
        <p:txBody>
          <a:bodyPr wrap="square" lIns="0" tIns="0" rIns="0" bIns="0" rtlCol="0" anchor="t"/>
          <a:lstStyle/>
          <a:p>
            <a:pPr marL="0" indent="0">
              <a:buNone/>
            </a:pPr>
            <a:r>
              <a:rPr lang="en-US" sz="2200" b="1" dirty="0">
                <a:solidFill>
                  <a:schemeClr val="bg1"/>
                </a:solidFill>
                <a:latin typeface="Courier New" pitchFamily="34" charset="0"/>
                <a:ea typeface="Courier New" pitchFamily="34" charset="-122"/>
                <a:cs typeface="Courier New" pitchFamily="34" charset="-120"/>
              </a:rPr>
              <a:t>Sum, Cout</a:t>
            </a:r>
            <a:endParaRPr lang="en-US" sz="2200" dirty="0"/>
          </a:p>
        </p:txBody>
      </p:sp>
      <p:sp>
        <p:nvSpPr>
          <p:cNvPr id="13" name="Equations card"/>
          <p:cNvSpPr/>
          <p:nvPr/>
        </p:nvSpPr>
        <p:spPr>
          <a:xfrm>
            <a:off x="548640" y="4206240"/>
            <a:ext cx="4663440" cy="1965960"/>
          </a:xfrm>
          <a:prstGeom prst="roundRect">
            <a:avLst>
              <a:gd name="adj" fmla="val 5581"/>
            </a:avLst>
          </a:prstGeom>
          <a:solidFill>
            <a:schemeClr val="tx2">
              <a:alpha val="85000"/>
            </a:schemeClr>
          </a:solidFill>
          <a:ln w="9525">
            <a:solidFill>
              <a:schemeClr val="accent1">
                <a:alpha val="40000"/>
              </a:schemeClr>
            </a:solidFill>
            <a:prstDash val="solid"/>
          </a:ln>
        </p:spPr>
      </p:sp>
      <p:sp>
        <p:nvSpPr>
          <p:cNvPr id="14" name="Equations label"/>
          <p:cNvSpPr txBox="1"/>
          <p:nvPr/>
        </p:nvSpPr>
        <p:spPr>
          <a:xfrm>
            <a:off x="822960" y="4361688"/>
            <a:ext cx="3657600" cy="228600"/>
          </a:xfrm>
          <a:prstGeom prst="rect">
            <a:avLst/>
          </a:prstGeom>
          <a:noFill/>
          <a:ln/>
        </p:spPr>
        <p:txBody>
          <a:bodyPr wrap="square" lIns="0" tIns="0" rIns="0" bIns="0" rtlCol="0" anchor="t"/>
          <a:lstStyle/>
          <a:p>
            <a:pPr marL="0" indent="0">
              <a:buNone/>
            </a:pPr>
            <a:r>
              <a:rPr lang="en-US" sz="1100" b="1" kern="0" spc="300" dirty="0">
                <a:solidFill>
                  <a:schemeClr val="accent1"/>
                </a:solidFill>
              </a:rPr>
              <a:t>BOOLEAN EQUATIONS</a:t>
            </a:r>
            <a:endParaRPr lang="en-US" sz="1100" dirty="0"/>
          </a:p>
        </p:txBody>
      </p:sp>
      <p:sp>
        <p:nvSpPr>
          <p:cNvPr id="15" name="Sum equation"/>
          <p:cNvSpPr txBox="1"/>
          <p:nvPr/>
        </p:nvSpPr>
        <p:spPr>
          <a:xfrm>
            <a:off x="822960" y="4846320"/>
            <a:ext cx="4297680" cy="457200"/>
          </a:xfrm>
          <a:prstGeom prst="rect">
            <a:avLst/>
          </a:prstGeom>
          <a:noFill/>
          <a:ln/>
        </p:spPr>
        <p:txBody>
          <a:bodyPr wrap="square" lIns="0" tIns="0" rIns="0" bIns="0" rtlCol="0" anchor="t"/>
          <a:lstStyle/>
          <a:p>
            <a:pPr marL="0" indent="0">
              <a:buNone/>
            </a:pPr>
            <a:r>
              <a:rPr lang="en-US" sz="2400" b="1" dirty="0">
                <a:solidFill>
                  <a:schemeClr val="accent1"/>
                </a:solidFill>
                <a:latin typeface="Courier New" pitchFamily="34" charset="0"/>
                <a:ea typeface="Courier New" pitchFamily="34" charset="-122"/>
                <a:cs typeface="Courier New" pitchFamily="34" charset="-120"/>
              </a:rPr>
              <a:t>Sum  </a:t>
            </a:r>
            <a:r>
              <a:rPr lang="en-US" sz="2400" b="1" dirty="0">
                <a:solidFill>
                  <a:schemeClr val="bg1"/>
                </a:solidFill>
                <a:latin typeface="Courier New" pitchFamily="34" charset="0"/>
                <a:ea typeface="Courier New" pitchFamily="34" charset="-122"/>
                <a:cs typeface="Courier New" pitchFamily="34" charset="-120"/>
              </a:rPr>
              <a:t>= A ⊕ B ⊕ Cin</a:t>
            </a:r>
            <a:endParaRPr lang="en-US" sz="2400" dirty="0"/>
          </a:p>
        </p:txBody>
      </p:sp>
      <p:sp>
        <p:nvSpPr>
          <p:cNvPr id="16" name="Cout equation"/>
          <p:cNvSpPr txBox="1"/>
          <p:nvPr/>
        </p:nvSpPr>
        <p:spPr>
          <a:xfrm>
            <a:off x="822960" y="5440680"/>
            <a:ext cx="4297680" cy="457200"/>
          </a:xfrm>
          <a:prstGeom prst="rect">
            <a:avLst/>
          </a:prstGeom>
          <a:noFill/>
          <a:ln/>
        </p:spPr>
        <p:txBody>
          <a:bodyPr wrap="square" lIns="0" tIns="0" rIns="0" bIns="0" rtlCol="0" anchor="t"/>
          <a:lstStyle/>
          <a:p>
            <a:pPr marL="0" indent="0">
              <a:buNone/>
            </a:pPr>
            <a:r>
              <a:rPr lang="en-US" sz="2400" b="1" dirty="0">
                <a:solidFill>
                  <a:schemeClr val="accent4"/>
                </a:solidFill>
                <a:latin typeface="Courier New" pitchFamily="34" charset="0"/>
                <a:ea typeface="Courier New" pitchFamily="34" charset="-122"/>
                <a:cs typeface="Courier New" pitchFamily="34" charset="-120"/>
              </a:rPr>
              <a:t>Cout </a:t>
            </a:r>
            <a:r>
              <a:rPr lang="en-US" sz="2400" b="1" dirty="0">
                <a:solidFill>
                  <a:schemeClr val="bg1"/>
                </a:solidFill>
                <a:latin typeface="Courier New" pitchFamily="34" charset="0"/>
                <a:ea typeface="Courier New" pitchFamily="34" charset="-122"/>
                <a:cs typeface="Courier New" pitchFamily="34" charset="-120"/>
              </a:rPr>
              <a:t>= AB + Cin(A ⊕ B)</a:t>
            </a:r>
            <a:endParaRPr lang="en-US" sz="2400" dirty="0"/>
          </a:p>
        </p:txBody>
      </p:sp>
      <p:sp>
        <p:nvSpPr>
          <p:cNvPr id="18" name="Composite label"/>
          <p:cNvSpPr txBox="1"/>
          <p:nvPr/>
        </p:nvSpPr>
        <p:spPr>
          <a:xfrm>
            <a:off x="5394960" y="3520440"/>
            <a:ext cx="621792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BUILT FROM TWO HALF ADDERS + ONE OR GATE</a:t>
            </a:r>
            <a:endParaRPr lang="en-US" sz="1200" dirty="0"/>
          </a:p>
        </p:txBody>
      </p:sp>
      <p:pic>
        <p:nvPicPr>
          <p:cNvPr id="19" name="Two half adders and an OR gate" descr="Full adder made of two half adders and an OR gate"/>
          <p:cNvPicPr>
            <a:picLocks noChangeAspect="1"/>
          </p:cNvPicPr>
          <p:nvPr/>
        </p:nvPicPr>
        <p:blipFill>
          <a:blip r:embed="rId3"/>
          <a:stretch>
            <a:fillRect/>
          </a:stretch>
        </p:blipFill>
        <p:spPr>
          <a:xfrm>
            <a:off x="5394960" y="3886200"/>
            <a:ext cx="6217920" cy="2111746"/>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7</a:t>
            </a:fld>
            <a:endParaRPr lang="en-US"/>
          </a:p>
        </p:txBody>
      </p:sp>
      <p:pic>
        <p:nvPicPr>
          <p:cNvPr id="26" name="Picture 25" descr="full_adder_circuit.png"/>
          <p:cNvPicPr>
            <a:picLocks noChangeAspect="1"/>
          </p:cNvPicPr>
          <p:nvPr/>
        </p:nvPicPr>
        <p:blipFill>
          <a:blip r:embed="rId4"/>
          <a:stretch>
            <a:fillRect/>
          </a:stretch>
        </p:blipFill>
        <p:spPr>
          <a:xfrm>
            <a:off x="6400800" y="1417320"/>
            <a:ext cx="4389120" cy="1732547"/>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label"/>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100" b="1" kern="0" spc="300" dirty="0">
                <a:solidFill>
                  <a:schemeClr val="accent1"/>
                </a:solidFill>
              </a:rPr>
              <a:t>FULL ADDER</a:t>
            </a:r>
            <a:endParaRPr lang="en-US" sz="1100" dirty="0"/>
          </a:p>
        </p:txBody>
      </p:sp>
      <p:sp>
        <p:nvSpPr>
          <p:cNvPr id="3" name="Text 0"/>
          <p:cNvSpPr>
            <a:spLocks noGrp="1"/>
          </p:cNvSpPr>
          <p:nvPr>
            <p:ph type="title" idx="100" hasCustomPrompt="1"/>
          </p:nvPr>
        </p:nvSpPr>
        <p:spPr>
          <a:xfrm>
            <a:off x="548640" y="566928"/>
            <a:ext cx="9601200" cy="731520"/>
          </a:xfrm>
          <a:prstGeom prst="rect">
            <a:avLst/>
          </a:prstGeom>
          <a:noFill/>
          <a:ln/>
        </p:spPr>
        <p:txBody>
          <a:bodyPr wrap="square" lIns="0" tIns="0" rIns="0" bIns="0" rtlCol="0" anchor="ctr"/>
          <a:lstStyle/>
          <a:p>
            <a:pPr marL="0" indent="0" algn="l">
              <a:buNone/>
            </a:pPr>
            <a:r>
              <a:rPr lang="en-US" sz="3400" b="1" dirty="0">
                <a:solidFill>
                  <a:schemeClr val="bg1"/>
                </a:solidFill>
              </a:rPr>
              <a:t>Full Adder Truth Table</a:t>
            </a:r>
            <a:endParaRPr lang="en-US" sz="3400" dirty="0"/>
          </a:p>
        </p:txBody>
      </p:sp>
      <p:graphicFrame>
        <p:nvGraphicFramePr>
          <p:cNvPr id="9" name="Full adder truth table"/>
          <p:cNvGraphicFramePr>
            <a:graphicFrameLocks noGrp="1"/>
          </p:cNvGraphicFramePr>
          <p:nvPr>
            <p:extLst>
              <p:ext uri="{D42A27DB-BD31-4B8C-83A1-F6EECF244321}">
                <p14:modId xmlns:p14="http://schemas.microsoft.com/office/powerpoint/2010/main" val="1579011935"/>
              </p:ext>
            </p:extLst>
          </p:nvPr>
        </p:nvGraphicFramePr>
        <p:xfrm>
          <a:off x="548640" y="1508760"/>
          <a:ext cx="6766560" cy="4608576"/>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512064">
                <a:tc>
                  <a:txBody>
                    <a:bodyPr/>
                    <a:lstStyle/>
                    <a:p>
                      <a:pPr marL="0" indent="0" algn="ctr">
                        <a:buNone/>
                      </a:pPr>
                      <a:r>
                        <a:rPr lang="en-US" sz="1600" b="1" dirty="0">
                          <a:solidFill>
                            <a:schemeClr val="bg1"/>
                          </a:solidFill>
                        </a:rPr>
                        <a:t>A</a:t>
                      </a:r>
                      <a:endParaRPr lang="en-US" sz="1600" dirty="0"/>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2">
                        <a:alpha val="45000"/>
                      </a:schemeClr>
                    </a:solidFill>
                  </a:tcPr>
                </a:tc>
                <a:tc>
                  <a:txBody>
                    <a:bodyPr/>
                    <a:lstStyle/>
                    <a:p>
                      <a:pPr marL="0" indent="0" algn="ctr">
                        <a:buNone/>
                      </a:pPr>
                      <a:r>
                        <a:rPr lang="en-US" sz="1600" b="1" dirty="0">
                          <a:solidFill>
                            <a:schemeClr val="bg1"/>
                          </a:solidFill>
                        </a:rPr>
                        <a:t>B</a:t>
                      </a:r>
                      <a:endParaRPr lang="en-US" sz="1600" dirty="0"/>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2">
                        <a:alpha val="45000"/>
                      </a:schemeClr>
                    </a:solidFill>
                  </a:tcPr>
                </a:tc>
                <a:tc>
                  <a:txBody>
                    <a:bodyPr/>
                    <a:lstStyle/>
                    <a:p>
                      <a:pPr marL="0" indent="0" algn="ctr">
                        <a:buNone/>
                      </a:pPr>
                      <a:r>
                        <a:rPr lang="en-US" sz="1600" b="1" dirty="0">
                          <a:solidFill>
                            <a:schemeClr val="bg1"/>
                          </a:solidFill>
                        </a:rPr>
                        <a:t>Cin</a:t>
                      </a:r>
                      <a:endParaRPr lang="en-US" sz="1600" dirty="0"/>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2">
                        <a:alpha val="45000"/>
                      </a:schemeClr>
                    </a:solidFill>
                  </a:tcPr>
                </a:tc>
                <a:tc>
                  <a:txBody>
                    <a:bodyPr/>
                    <a:lstStyle/>
                    <a:p>
                      <a:pPr marL="0" indent="0" algn="ctr">
                        <a:buNone/>
                      </a:pPr>
                      <a:r>
                        <a:rPr lang="en-US" sz="1600" b="1" dirty="0">
                          <a:solidFill>
                            <a:schemeClr val="accent1"/>
                          </a:solidFill>
                        </a:rPr>
                        <a:t>SUM</a:t>
                      </a:r>
                      <a:endParaRPr lang="en-US" sz="1600" dirty="0"/>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2">
                        <a:alpha val="45000"/>
                      </a:schemeClr>
                    </a:solidFill>
                  </a:tcPr>
                </a:tc>
                <a:tc>
                  <a:txBody>
                    <a:bodyPr/>
                    <a:lstStyle/>
                    <a:p>
                      <a:pPr marL="0" indent="0" algn="ctr">
                        <a:buNone/>
                      </a:pPr>
                      <a:r>
                        <a:rPr lang="en-US" sz="1600" b="1" dirty="0">
                          <a:solidFill>
                            <a:schemeClr val="accent4"/>
                          </a:solidFill>
                        </a:rPr>
                        <a:t>Cout</a:t>
                      </a:r>
                      <a:endParaRPr lang="en-US" sz="1600" dirty="0"/>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2">
                        <a:alpha val="45000"/>
                      </a:schemeClr>
                    </a:solidFill>
                  </a:tcPr>
                </a:tc>
                <a:extLst>
                  <a:ext uri="{0D108BD9-81ED-4DB2-BD59-A6C34878D82A}">
                    <a16:rowId xmlns:a16="http://schemas.microsoft.com/office/drawing/2014/main" val="10000"/>
                  </a:ext>
                </a:extLst>
              </a:tr>
              <a:tr h="512064">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2"/>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2"/>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extLst>
                  <a:ext uri="{0D108BD9-81ED-4DB2-BD59-A6C34878D82A}">
                    <a16:rowId xmlns:a16="http://schemas.microsoft.com/office/drawing/2014/main" val="10001"/>
                  </a:ext>
                </a:extLst>
              </a:tr>
              <a:tr h="512064">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accent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1">
                        <a:alpha val="28000"/>
                      </a:schemeClr>
                    </a:solidFill>
                  </a:tcPr>
                </a:tc>
                <a:tc>
                  <a:txBody>
                    <a:bodyPr/>
                    <a:lstStyle/>
                    <a:p>
                      <a:pPr marL="0" indent="0" algn="ctr">
                        <a:buNone/>
                      </a:pPr>
                      <a:r>
                        <a:rPr lang="en-US" sz="2000" b="1" dirty="0">
                          <a:solidFill>
                            <a:schemeClr val="bg2"/>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extLst>
                  <a:ext uri="{0D108BD9-81ED-4DB2-BD59-A6C34878D82A}">
                    <a16:rowId xmlns:a16="http://schemas.microsoft.com/office/drawing/2014/main" val="10002"/>
                  </a:ext>
                </a:extLst>
              </a:tr>
              <a:tr h="512064">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accent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1">
                        <a:alpha val="28000"/>
                      </a:schemeClr>
                    </a:solidFill>
                  </a:tcPr>
                </a:tc>
                <a:tc>
                  <a:txBody>
                    <a:bodyPr/>
                    <a:lstStyle/>
                    <a:p>
                      <a:pPr marL="0" indent="0" algn="ctr">
                        <a:buNone/>
                      </a:pPr>
                      <a:r>
                        <a:rPr lang="en-US" sz="2000" b="1" dirty="0">
                          <a:solidFill>
                            <a:schemeClr val="bg2"/>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extLst>
                  <a:ext uri="{0D108BD9-81ED-4DB2-BD59-A6C34878D82A}">
                    <a16:rowId xmlns:a16="http://schemas.microsoft.com/office/drawing/2014/main" val="10003"/>
                  </a:ext>
                </a:extLst>
              </a:tr>
              <a:tr h="512064">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2"/>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accent4"/>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4">
                        <a:alpha val="32000"/>
                      </a:schemeClr>
                    </a:solidFill>
                  </a:tcPr>
                </a:tc>
                <a:extLst>
                  <a:ext uri="{0D108BD9-81ED-4DB2-BD59-A6C34878D82A}">
                    <a16:rowId xmlns:a16="http://schemas.microsoft.com/office/drawing/2014/main" val="10004"/>
                  </a:ext>
                </a:extLst>
              </a:tr>
              <a:tr h="512064">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accent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1">
                        <a:alpha val="28000"/>
                      </a:schemeClr>
                    </a:solidFill>
                  </a:tcPr>
                </a:tc>
                <a:tc>
                  <a:txBody>
                    <a:bodyPr/>
                    <a:lstStyle/>
                    <a:p>
                      <a:pPr marL="0" indent="0" algn="ctr">
                        <a:buNone/>
                      </a:pPr>
                      <a:r>
                        <a:rPr lang="en-US" sz="2000" b="1" dirty="0">
                          <a:solidFill>
                            <a:schemeClr val="bg2"/>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extLst>
                  <a:ext uri="{0D108BD9-81ED-4DB2-BD59-A6C34878D82A}">
                    <a16:rowId xmlns:a16="http://schemas.microsoft.com/office/drawing/2014/main" val="10005"/>
                  </a:ext>
                </a:extLst>
              </a:tr>
              <a:tr h="512064">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2"/>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accent4"/>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4">
                        <a:alpha val="32000"/>
                      </a:schemeClr>
                    </a:solidFill>
                  </a:tcPr>
                </a:tc>
                <a:extLst>
                  <a:ext uri="{0D108BD9-81ED-4DB2-BD59-A6C34878D82A}">
                    <a16:rowId xmlns:a16="http://schemas.microsoft.com/office/drawing/2014/main" val="10006"/>
                  </a:ext>
                </a:extLst>
              </a:tr>
              <a:tr h="512064">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2"/>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accent4"/>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4">
                        <a:alpha val="32000"/>
                      </a:schemeClr>
                    </a:solidFill>
                  </a:tcPr>
                </a:tc>
                <a:extLst>
                  <a:ext uri="{0D108BD9-81ED-4DB2-BD59-A6C34878D82A}">
                    <a16:rowId xmlns:a16="http://schemas.microsoft.com/office/drawing/2014/main" val="10007"/>
                  </a:ext>
                </a:extLst>
              </a:tr>
              <a:tr h="512064">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bg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ctr">
                        <a:buNone/>
                      </a:pPr>
                      <a:r>
                        <a:rPr lang="en-US" sz="2000" b="1" dirty="0">
                          <a:solidFill>
                            <a:schemeClr val="accent1"/>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1">
                        <a:alpha val="28000"/>
                      </a:schemeClr>
                    </a:solidFill>
                  </a:tcPr>
                </a:tc>
                <a:tc>
                  <a:txBody>
                    <a:bodyPr/>
                    <a:lstStyle/>
                    <a:p>
                      <a:pPr marL="0" indent="0" algn="ctr">
                        <a:buNone/>
                      </a:pPr>
                      <a:r>
                        <a:rPr lang="en-US" sz="2000" b="1" dirty="0">
                          <a:solidFill>
                            <a:schemeClr val="accent4"/>
                          </a:solidFill>
                          <a:latin typeface="Courier New" pitchFamily="34" charset="0"/>
                          <a:ea typeface="Courier New" pitchFamily="34" charset="-122"/>
                          <a:cs typeface="Courier New" pitchFamily="34" charset="-120"/>
                        </a:rPr>
                        <a:t>1</a:t>
                      </a:r>
                      <a:endParaRPr lang="en-US" sz="2000" dirty="0">
                        <a:latin typeface="Courier New" charset="0"/>
                        <a:ea typeface="Courier New" charset="0"/>
                        <a:cs typeface="Courier New" charset="0"/>
                      </a:endParaRPr>
                    </a:p>
                  </a:txBody>
                  <a:tcPr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4">
                        <a:alpha val="32000"/>
                      </a:schemeClr>
                    </a:solidFill>
                  </a:tcPr>
                </a:tc>
                <a:extLst>
                  <a:ext uri="{0D108BD9-81ED-4DB2-BD59-A6C34878D82A}">
                    <a16:rowId xmlns:a16="http://schemas.microsoft.com/office/drawing/2014/main" val="10008"/>
                  </a:ext>
                </a:extLst>
              </a:tr>
            </a:tbl>
          </a:graphicData>
        </a:graphic>
      </p:graphicFrame>
      <p:sp>
        <p:nvSpPr>
          <p:cNvPr id="5" name="Tiles heading"/>
          <p:cNvSpPr txBox="1"/>
          <p:nvPr/>
        </p:nvSpPr>
        <p:spPr>
          <a:xfrm>
            <a:off x="7818120" y="1508760"/>
            <a:ext cx="3794760" cy="274320"/>
          </a:xfrm>
          <a:prstGeom prst="rect">
            <a:avLst/>
          </a:prstGeom>
          <a:noFill/>
          <a:ln/>
        </p:spPr>
        <p:txBody>
          <a:bodyPr wrap="square" lIns="0" tIns="0" rIns="0" bIns="0" rtlCol="0" anchor="t"/>
          <a:lstStyle/>
          <a:p>
            <a:pPr marL="0" indent="0">
              <a:buNone/>
            </a:pPr>
            <a:r>
              <a:rPr lang="en-US" sz="1200" b="1" kern="0" spc="300" dirty="0">
                <a:solidFill>
                  <a:schemeClr val="accent1"/>
                </a:solidFill>
              </a:rPr>
              <a:t>COUNT THE 1s IN THE INPUTS</a:t>
            </a:r>
            <a:endParaRPr lang="en-US" sz="1200" dirty="0"/>
          </a:p>
        </p:txBody>
      </p:sp>
      <p:sp>
        <p:nvSpPr>
          <p:cNvPr id="6" name="Count tile 1"/>
          <p:cNvSpPr/>
          <p:nvPr/>
        </p:nvSpPr>
        <p:spPr>
          <a:xfrm>
            <a:off x="7818120" y="1920240"/>
            <a:ext cx="3794760" cy="914400"/>
          </a:xfrm>
          <a:prstGeom prst="roundRect">
            <a:avLst>
              <a:gd name="adj" fmla="val 12000"/>
            </a:avLst>
          </a:prstGeom>
          <a:solidFill>
            <a:schemeClr val="tx2">
              <a:alpha val="85000"/>
            </a:schemeClr>
          </a:solidFill>
          <a:ln w="9525">
            <a:solidFill>
              <a:schemeClr val="accent1">
                <a:alpha val="40000"/>
              </a:schemeClr>
            </a:solidFill>
            <a:prstDash val="solid"/>
          </a:ln>
        </p:spPr>
      </p:sp>
      <p:sp>
        <p:nvSpPr>
          <p:cNvPr id="7" name="Tile label 1"/>
          <p:cNvSpPr txBox="1"/>
          <p:nvPr/>
        </p:nvSpPr>
        <p:spPr>
          <a:xfrm>
            <a:off x="8092440" y="2075688"/>
            <a:ext cx="2194560" cy="640080"/>
          </a:xfrm>
          <a:prstGeom prst="rect">
            <a:avLst/>
          </a:prstGeom>
          <a:noFill/>
          <a:ln/>
        </p:spPr>
        <p:txBody>
          <a:bodyPr wrap="square" lIns="0" tIns="0" rIns="0" bIns="0" rtlCol="0" anchor="t"/>
          <a:lstStyle/>
          <a:p>
            <a:pPr marL="0" indent="0">
              <a:buNone/>
            </a:pPr>
            <a:r>
              <a:rPr lang="en-US" sz="2000" b="1" dirty="0">
                <a:solidFill>
                  <a:schemeClr val="bg1"/>
                </a:solidFill>
              </a:rPr>
              <a:t>0 ones</a:t>
            </a:r>
            <a:endParaRPr lang="en-US" sz="1400" dirty="0"/>
          </a:p>
          <a:p>
            <a:pPr marL="0" indent="0">
              <a:buNone/>
            </a:pPr>
            <a:r>
              <a:rPr lang="en-US" sz="1400" dirty="0">
                <a:solidFill>
                  <a:schemeClr val="bg2"/>
                </a:solidFill>
              </a:rPr>
              <a:t>No input is high</a:t>
            </a:r>
            <a:endParaRPr lang="en-US" sz="1400" dirty="0"/>
          </a:p>
        </p:txBody>
      </p:sp>
      <p:sp>
        <p:nvSpPr>
          <p:cNvPr id="8" name="Tile result 1"/>
          <p:cNvSpPr txBox="1"/>
          <p:nvPr/>
        </p:nvSpPr>
        <p:spPr>
          <a:xfrm>
            <a:off x="10332720" y="2057400"/>
            <a:ext cx="1005840" cy="640080"/>
          </a:xfrm>
          <a:prstGeom prst="rect">
            <a:avLst/>
          </a:prstGeom>
          <a:noFill/>
          <a:ln/>
        </p:spPr>
        <p:txBody>
          <a:bodyPr wrap="square" lIns="0" tIns="0" rIns="0" bIns="0" rtlCol="0" anchor="t"/>
          <a:lstStyle/>
          <a:p>
            <a:pPr marL="0" indent="0" algn="r">
              <a:buNone/>
            </a:pPr>
            <a:r>
              <a:rPr lang="en-US" sz="3600" b="1" dirty="0">
                <a:solidFill>
                  <a:schemeClr val="accent4"/>
                </a:solidFill>
                <a:latin typeface="Courier New" pitchFamily="34" charset="0"/>
                <a:ea typeface="Courier New" pitchFamily="34" charset="-122"/>
                <a:cs typeface="Courier New" pitchFamily="34" charset="-120"/>
              </a:rPr>
              <a:t>0</a:t>
            </a:r>
            <a:r>
              <a:rPr lang="en-US" sz="3600" b="1" dirty="0">
                <a:solidFill>
                  <a:schemeClr val="accent1"/>
                </a:solidFill>
                <a:latin typeface="Courier New" pitchFamily="34" charset="0"/>
                <a:ea typeface="Courier New" pitchFamily="34" charset="-122"/>
                <a:cs typeface="Courier New" pitchFamily="34" charset="-120"/>
              </a:rPr>
              <a:t>0</a:t>
            </a:r>
            <a:endParaRPr lang="en-US" sz="3600" dirty="0"/>
          </a:p>
        </p:txBody>
      </p:sp>
      <p:sp>
        <p:nvSpPr>
          <p:cNvPr id="4" name="Count tile 2"/>
          <p:cNvSpPr/>
          <p:nvPr/>
        </p:nvSpPr>
        <p:spPr>
          <a:xfrm>
            <a:off x="7818120" y="2971800"/>
            <a:ext cx="3794760" cy="914400"/>
          </a:xfrm>
          <a:prstGeom prst="roundRect">
            <a:avLst>
              <a:gd name="adj" fmla="val 12000"/>
            </a:avLst>
          </a:prstGeom>
          <a:solidFill>
            <a:schemeClr val="tx2">
              <a:alpha val="85000"/>
            </a:schemeClr>
          </a:solidFill>
          <a:ln w="9525">
            <a:solidFill>
              <a:schemeClr val="accent1">
                <a:alpha val="40000"/>
              </a:schemeClr>
            </a:solidFill>
            <a:prstDash val="solid"/>
          </a:ln>
        </p:spPr>
      </p:sp>
      <p:sp>
        <p:nvSpPr>
          <p:cNvPr id="10" name="Tile label 2"/>
          <p:cNvSpPr txBox="1"/>
          <p:nvPr/>
        </p:nvSpPr>
        <p:spPr>
          <a:xfrm>
            <a:off x="8092440" y="3127248"/>
            <a:ext cx="2194560" cy="640080"/>
          </a:xfrm>
          <a:prstGeom prst="rect">
            <a:avLst/>
          </a:prstGeom>
          <a:noFill/>
          <a:ln/>
        </p:spPr>
        <p:txBody>
          <a:bodyPr wrap="square" lIns="0" tIns="0" rIns="0" bIns="0" rtlCol="0" anchor="t"/>
          <a:lstStyle/>
          <a:p>
            <a:pPr marL="0" indent="0">
              <a:buNone/>
            </a:pPr>
            <a:r>
              <a:rPr lang="en-US" sz="2000" b="1" dirty="0">
                <a:solidFill>
                  <a:schemeClr val="bg1"/>
                </a:solidFill>
              </a:rPr>
              <a:t>1 one</a:t>
            </a:r>
            <a:endParaRPr lang="en-US" sz="1400" dirty="0"/>
          </a:p>
          <a:p>
            <a:pPr marL="0" indent="0">
              <a:buNone/>
            </a:pPr>
            <a:r>
              <a:rPr lang="en-US" sz="1400" dirty="0">
                <a:solidFill>
                  <a:schemeClr val="bg2"/>
                </a:solidFill>
              </a:rPr>
              <a:t>One input is high</a:t>
            </a:r>
            <a:endParaRPr lang="en-US" sz="1400" dirty="0"/>
          </a:p>
        </p:txBody>
      </p:sp>
      <p:sp>
        <p:nvSpPr>
          <p:cNvPr id="11" name="Tile result 2"/>
          <p:cNvSpPr txBox="1"/>
          <p:nvPr/>
        </p:nvSpPr>
        <p:spPr>
          <a:xfrm>
            <a:off x="10332720" y="3108960"/>
            <a:ext cx="1005840" cy="640080"/>
          </a:xfrm>
          <a:prstGeom prst="rect">
            <a:avLst/>
          </a:prstGeom>
          <a:noFill/>
          <a:ln/>
        </p:spPr>
        <p:txBody>
          <a:bodyPr wrap="square" lIns="0" tIns="0" rIns="0" bIns="0" rtlCol="0" anchor="t"/>
          <a:lstStyle/>
          <a:p>
            <a:pPr marL="0" indent="0" algn="r">
              <a:buNone/>
            </a:pPr>
            <a:r>
              <a:rPr lang="en-US" sz="3600" b="1" dirty="0">
                <a:solidFill>
                  <a:schemeClr val="accent4"/>
                </a:solidFill>
                <a:latin typeface="Courier New" pitchFamily="34" charset="0"/>
                <a:ea typeface="Courier New" pitchFamily="34" charset="-122"/>
                <a:cs typeface="Courier New" pitchFamily="34" charset="-120"/>
              </a:rPr>
              <a:t>0</a:t>
            </a:r>
            <a:r>
              <a:rPr lang="en-US" sz="3600" b="1" dirty="0">
                <a:solidFill>
                  <a:schemeClr val="accent1"/>
                </a:solidFill>
                <a:latin typeface="Courier New" pitchFamily="34" charset="0"/>
                <a:ea typeface="Courier New" pitchFamily="34" charset="-122"/>
                <a:cs typeface="Courier New" pitchFamily="34" charset="-120"/>
              </a:rPr>
              <a:t>1</a:t>
            </a:r>
            <a:endParaRPr lang="en-US" sz="3600" dirty="0"/>
          </a:p>
        </p:txBody>
      </p:sp>
      <p:sp>
        <p:nvSpPr>
          <p:cNvPr id="12" name="Count tile 3"/>
          <p:cNvSpPr/>
          <p:nvPr/>
        </p:nvSpPr>
        <p:spPr>
          <a:xfrm>
            <a:off x="7818120" y="4023360"/>
            <a:ext cx="3794760" cy="914400"/>
          </a:xfrm>
          <a:prstGeom prst="roundRect">
            <a:avLst>
              <a:gd name="adj" fmla="val 12000"/>
            </a:avLst>
          </a:prstGeom>
          <a:solidFill>
            <a:schemeClr val="tx2">
              <a:alpha val="85000"/>
            </a:schemeClr>
          </a:solidFill>
          <a:ln w="9525">
            <a:solidFill>
              <a:schemeClr val="accent1">
                <a:alpha val="40000"/>
              </a:schemeClr>
            </a:solidFill>
            <a:prstDash val="solid"/>
          </a:ln>
        </p:spPr>
      </p:sp>
      <p:sp>
        <p:nvSpPr>
          <p:cNvPr id="13" name="Tile label 3"/>
          <p:cNvSpPr txBox="1"/>
          <p:nvPr/>
        </p:nvSpPr>
        <p:spPr>
          <a:xfrm>
            <a:off x="8092440" y="4178808"/>
            <a:ext cx="2194560" cy="640080"/>
          </a:xfrm>
          <a:prstGeom prst="rect">
            <a:avLst/>
          </a:prstGeom>
          <a:noFill/>
          <a:ln/>
        </p:spPr>
        <p:txBody>
          <a:bodyPr wrap="square" lIns="0" tIns="0" rIns="0" bIns="0" rtlCol="0" anchor="t"/>
          <a:lstStyle/>
          <a:p>
            <a:pPr marL="0" indent="0">
              <a:buNone/>
            </a:pPr>
            <a:r>
              <a:rPr lang="en-US" sz="2000" b="1" dirty="0">
                <a:solidFill>
                  <a:schemeClr val="bg1"/>
                </a:solidFill>
              </a:rPr>
              <a:t>2 ones</a:t>
            </a:r>
            <a:endParaRPr lang="en-US" sz="1400" dirty="0"/>
          </a:p>
          <a:p>
            <a:pPr marL="0" indent="0">
              <a:buNone/>
            </a:pPr>
            <a:r>
              <a:rPr lang="en-US" sz="1400" dirty="0">
                <a:solidFill>
                  <a:schemeClr val="bg2"/>
                </a:solidFill>
              </a:rPr>
              <a:t>Two inputs are high</a:t>
            </a:r>
            <a:endParaRPr lang="en-US" sz="1400" dirty="0"/>
          </a:p>
        </p:txBody>
      </p:sp>
      <p:sp>
        <p:nvSpPr>
          <p:cNvPr id="14" name="Tile result 3"/>
          <p:cNvSpPr txBox="1"/>
          <p:nvPr/>
        </p:nvSpPr>
        <p:spPr>
          <a:xfrm>
            <a:off x="10332720" y="4160520"/>
            <a:ext cx="1005840" cy="640080"/>
          </a:xfrm>
          <a:prstGeom prst="rect">
            <a:avLst/>
          </a:prstGeom>
          <a:noFill/>
          <a:ln/>
        </p:spPr>
        <p:txBody>
          <a:bodyPr wrap="square" lIns="0" tIns="0" rIns="0" bIns="0" rtlCol="0" anchor="t"/>
          <a:lstStyle/>
          <a:p>
            <a:pPr marL="0" indent="0" algn="r">
              <a:buNone/>
            </a:pPr>
            <a:r>
              <a:rPr lang="en-US" sz="3600" b="1" dirty="0">
                <a:solidFill>
                  <a:schemeClr val="accent4"/>
                </a:solidFill>
                <a:latin typeface="Courier New" pitchFamily="34" charset="0"/>
                <a:ea typeface="Courier New" pitchFamily="34" charset="-122"/>
                <a:cs typeface="Courier New" pitchFamily="34" charset="-120"/>
              </a:rPr>
              <a:t>1</a:t>
            </a:r>
            <a:r>
              <a:rPr lang="en-US" sz="3600" b="1" dirty="0">
                <a:solidFill>
                  <a:schemeClr val="accent1"/>
                </a:solidFill>
                <a:latin typeface="Courier New" pitchFamily="34" charset="0"/>
                <a:ea typeface="Courier New" pitchFamily="34" charset="-122"/>
                <a:cs typeface="Courier New" pitchFamily="34" charset="-120"/>
              </a:rPr>
              <a:t>0</a:t>
            </a:r>
            <a:endParaRPr lang="en-US" sz="3600" dirty="0"/>
          </a:p>
        </p:txBody>
      </p:sp>
      <p:sp>
        <p:nvSpPr>
          <p:cNvPr id="15" name="Count tile 4"/>
          <p:cNvSpPr/>
          <p:nvPr/>
        </p:nvSpPr>
        <p:spPr>
          <a:xfrm>
            <a:off x="7818120" y="5074920"/>
            <a:ext cx="3794760" cy="914400"/>
          </a:xfrm>
          <a:prstGeom prst="roundRect">
            <a:avLst>
              <a:gd name="adj" fmla="val 12000"/>
            </a:avLst>
          </a:prstGeom>
          <a:solidFill>
            <a:schemeClr val="tx2">
              <a:alpha val="85000"/>
            </a:schemeClr>
          </a:solidFill>
          <a:ln w="9525">
            <a:solidFill>
              <a:schemeClr val="accent1">
                <a:alpha val="40000"/>
              </a:schemeClr>
            </a:solidFill>
            <a:prstDash val="solid"/>
          </a:ln>
        </p:spPr>
      </p:sp>
      <p:sp>
        <p:nvSpPr>
          <p:cNvPr id="16" name="Tile label 4"/>
          <p:cNvSpPr txBox="1"/>
          <p:nvPr/>
        </p:nvSpPr>
        <p:spPr>
          <a:xfrm>
            <a:off x="8092440" y="5230368"/>
            <a:ext cx="2194560" cy="640080"/>
          </a:xfrm>
          <a:prstGeom prst="rect">
            <a:avLst/>
          </a:prstGeom>
          <a:noFill/>
          <a:ln/>
        </p:spPr>
        <p:txBody>
          <a:bodyPr wrap="square" lIns="0" tIns="0" rIns="0" bIns="0" rtlCol="0" anchor="t"/>
          <a:lstStyle/>
          <a:p>
            <a:pPr marL="0" indent="0">
              <a:buNone/>
            </a:pPr>
            <a:r>
              <a:rPr lang="en-US" sz="2000" b="1" dirty="0">
                <a:solidFill>
                  <a:schemeClr val="bg1"/>
                </a:solidFill>
              </a:rPr>
              <a:t>3 ones</a:t>
            </a:r>
            <a:endParaRPr lang="en-US" sz="1400" dirty="0"/>
          </a:p>
          <a:p>
            <a:pPr marL="0" indent="0">
              <a:buNone/>
            </a:pPr>
            <a:r>
              <a:rPr lang="en-US" sz="1400" dirty="0">
                <a:solidFill>
                  <a:schemeClr val="bg2"/>
                </a:solidFill>
              </a:rPr>
              <a:t>All three are high</a:t>
            </a:r>
            <a:endParaRPr lang="en-US" sz="1400" dirty="0"/>
          </a:p>
        </p:txBody>
      </p:sp>
      <p:sp>
        <p:nvSpPr>
          <p:cNvPr id="17" name="Tile result 4"/>
          <p:cNvSpPr txBox="1"/>
          <p:nvPr/>
        </p:nvSpPr>
        <p:spPr>
          <a:xfrm>
            <a:off x="10332720" y="5212080"/>
            <a:ext cx="1005840" cy="640080"/>
          </a:xfrm>
          <a:prstGeom prst="rect">
            <a:avLst/>
          </a:prstGeom>
          <a:noFill/>
          <a:ln/>
        </p:spPr>
        <p:txBody>
          <a:bodyPr wrap="square" lIns="0" tIns="0" rIns="0" bIns="0" rtlCol="0" anchor="t"/>
          <a:lstStyle/>
          <a:p>
            <a:pPr marL="0" indent="0" algn="r">
              <a:buNone/>
            </a:pPr>
            <a:r>
              <a:rPr lang="en-US" sz="3600" b="1" dirty="0">
                <a:solidFill>
                  <a:schemeClr val="accent4"/>
                </a:solidFill>
                <a:latin typeface="Courier New" pitchFamily="34" charset="0"/>
                <a:ea typeface="Courier New" pitchFamily="34" charset="-122"/>
                <a:cs typeface="Courier New" pitchFamily="34" charset="-120"/>
              </a:rPr>
              <a:t>1</a:t>
            </a:r>
            <a:r>
              <a:rPr lang="en-US" sz="3600" b="1" dirty="0">
                <a:solidFill>
                  <a:schemeClr val="accent1"/>
                </a:solidFill>
                <a:latin typeface="Courier New" pitchFamily="34" charset="0"/>
                <a:ea typeface="Courier New" pitchFamily="34" charset="-122"/>
                <a:cs typeface="Courier New" pitchFamily="34" charset="-120"/>
              </a:rPr>
              <a:t>1</a:t>
            </a:r>
            <a:endParaRPr lang="en-US" sz="3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label"/>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100" b="1" kern="0" spc="300" dirty="0">
                <a:solidFill>
                  <a:schemeClr val="accent1"/>
                </a:solidFill>
              </a:rPr>
              <a:t>FULL ADDER</a:t>
            </a:r>
            <a:endParaRPr lang="en-US" sz="1100" dirty="0"/>
          </a:p>
        </p:txBody>
      </p:sp>
      <p:sp>
        <p:nvSpPr>
          <p:cNvPr id="3" name="Text 0"/>
          <p:cNvSpPr>
            <a:spLocks noGrp="1"/>
          </p:cNvSpPr>
          <p:nvPr>
            <p:ph type="title" idx="100" hasCustomPrompt="1"/>
          </p:nvPr>
        </p:nvSpPr>
        <p:spPr>
          <a:xfrm>
            <a:off x="548640" y="566928"/>
            <a:ext cx="9601200" cy="731520"/>
          </a:xfrm>
          <a:prstGeom prst="rect">
            <a:avLst/>
          </a:prstGeom>
          <a:noFill/>
          <a:ln/>
        </p:spPr>
        <p:txBody>
          <a:bodyPr wrap="square" lIns="0" tIns="0" rIns="0" bIns="0" rtlCol="0" anchor="ctr"/>
          <a:lstStyle/>
          <a:p>
            <a:pPr marL="0" indent="0" algn="l">
              <a:buNone/>
            </a:pPr>
            <a:r>
              <a:rPr lang="en-US" sz="3400" b="1" dirty="0">
                <a:solidFill>
                  <a:schemeClr val="bg1"/>
                </a:solidFill>
              </a:rPr>
              <a:t>Full Adder Design in Logisim</a:t>
            </a:r>
            <a:endParaRPr lang="en-US" sz="3400" dirty="0"/>
          </a:p>
        </p:txBody>
      </p:sp>
      <p:sp>
        <p:nvSpPr>
          <p:cNvPr id="5" name="Tip card"/>
          <p:cNvSpPr/>
          <p:nvPr/>
        </p:nvSpPr>
        <p:spPr>
          <a:xfrm>
            <a:off x="548640" y="5228234"/>
            <a:ext cx="7498080" cy="943966"/>
          </a:xfrm>
          <a:prstGeom prst="roundRect">
            <a:avLst>
              <a:gd name="adj" fmla="val 11624"/>
            </a:avLst>
          </a:prstGeom>
          <a:solidFill>
            <a:schemeClr val="tx2">
              <a:alpha val="85000"/>
            </a:schemeClr>
          </a:solidFill>
          <a:ln w="9525">
            <a:solidFill>
              <a:schemeClr val="accent4">
                <a:alpha val="50000"/>
              </a:schemeClr>
            </a:solidFill>
            <a:prstDash val="solid"/>
          </a:ln>
        </p:spPr>
      </p:sp>
      <p:sp>
        <p:nvSpPr>
          <p:cNvPr id="6" name="Tip text"/>
          <p:cNvSpPr txBox="1"/>
          <p:nvPr/>
        </p:nvSpPr>
        <p:spPr>
          <a:xfrm>
            <a:off x="777240" y="5347106"/>
            <a:ext cx="7040880" cy="715366"/>
          </a:xfrm>
          <a:prstGeom prst="rect">
            <a:avLst/>
          </a:prstGeom>
          <a:noFill/>
          <a:ln/>
        </p:spPr>
        <p:txBody>
          <a:bodyPr wrap="square" lIns="0" tIns="0" rIns="0" bIns="0" rtlCol="0" anchor="t"/>
          <a:lstStyle/>
          <a:p>
            <a:pPr marL="0" indent="0">
              <a:buNone/>
            </a:pPr>
            <a:r>
              <a:rPr lang="en-US" sz="1500" b="1" dirty="0">
                <a:solidFill>
                  <a:schemeClr val="accent4"/>
                </a:solidFill>
              </a:rPr>
              <a:t>TIP  </a:t>
            </a:r>
            <a:r>
              <a:rPr lang="en-US" sz="1500" dirty="0">
                <a:solidFill>
                  <a:schemeClr val="bg1"/>
                </a:solidFill>
              </a:rPr>
              <a:t>Project ▸ Add Circuit lets you save the Half Adder as a sub-circuit and reuse it twice, exactly how a Full Adder is built.</a:t>
            </a:r>
            <a:endParaRPr lang="en-US" sz="1500" dirty="0"/>
          </a:p>
        </p:txBody>
      </p:sp>
      <p:sp>
        <p:nvSpPr>
          <p:cNvPr id="7" name="Step 1"/>
          <p:cNvSpPr/>
          <p:nvPr/>
        </p:nvSpPr>
        <p:spPr>
          <a:xfrm>
            <a:off x="8412480" y="1554480"/>
            <a:ext cx="411480" cy="411480"/>
          </a:xfrm>
          <a:prstGeom prst="ellipse">
            <a:avLst/>
          </a:prstGeom>
          <a:solidFill>
            <a:schemeClr val="accent1"/>
          </a:solidFill>
          <a:ln w="6350">
            <a:solidFill>
              <a:schemeClr val="accent1"/>
            </a:solidFill>
            <a:prstDash val="solid"/>
          </a:ln>
        </p:spPr>
      </p:sp>
      <p:sp>
        <p:nvSpPr>
          <p:cNvPr id="8" name="Step number 1"/>
          <p:cNvSpPr txBox="1"/>
          <p:nvPr/>
        </p:nvSpPr>
        <p:spPr>
          <a:xfrm>
            <a:off x="8412480" y="1554480"/>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9" name="Step text 1"/>
          <p:cNvSpPr txBox="1"/>
          <p:nvPr/>
        </p:nvSpPr>
        <p:spPr>
          <a:xfrm>
            <a:off x="9006840" y="1508760"/>
            <a:ext cx="2606040" cy="822960"/>
          </a:xfrm>
          <a:prstGeom prst="rect">
            <a:avLst/>
          </a:prstGeom>
          <a:noFill/>
          <a:ln/>
        </p:spPr>
        <p:txBody>
          <a:bodyPr wrap="square" lIns="0" tIns="0" rIns="0" bIns="0" rtlCol="0" anchor="t"/>
          <a:lstStyle/>
          <a:p>
            <a:pPr marL="0" indent="0">
              <a:buNone/>
            </a:pPr>
            <a:r>
              <a:rPr lang="en-US" sz="1600" b="1" dirty="0">
                <a:solidFill>
                  <a:schemeClr val="bg1"/>
                </a:solidFill>
              </a:rPr>
              <a:t>Add inputs</a:t>
            </a:r>
            <a:endParaRPr lang="en-US" sz="1400" dirty="0"/>
          </a:p>
          <a:p>
            <a:pPr marL="0" indent="0">
              <a:buNone/>
            </a:pPr>
            <a:r>
              <a:rPr lang="en-US" sz="1400" dirty="0">
                <a:solidFill>
                  <a:schemeClr val="bg2"/>
                </a:solidFill>
              </a:rPr>
              <a:t>Three 1-bit pins: A, B, Cin</a:t>
            </a:r>
            <a:endParaRPr lang="en-US" sz="1400" dirty="0"/>
          </a:p>
        </p:txBody>
      </p:sp>
      <p:sp>
        <p:nvSpPr>
          <p:cNvPr id="10" name="Step 2"/>
          <p:cNvSpPr/>
          <p:nvPr/>
        </p:nvSpPr>
        <p:spPr>
          <a:xfrm>
            <a:off x="8412480" y="2487168"/>
            <a:ext cx="411480" cy="411480"/>
          </a:xfrm>
          <a:prstGeom prst="ellipse">
            <a:avLst/>
          </a:prstGeom>
          <a:solidFill>
            <a:schemeClr val="accent1"/>
          </a:solidFill>
          <a:ln w="6350">
            <a:solidFill>
              <a:schemeClr val="accent1"/>
            </a:solidFill>
            <a:prstDash val="solid"/>
          </a:ln>
        </p:spPr>
      </p:sp>
      <p:sp>
        <p:nvSpPr>
          <p:cNvPr id="11" name="Step number 2"/>
          <p:cNvSpPr txBox="1"/>
          <p:nvPr/>
        </p:nvSpPr>
        <p:spPr>
          <a:xfrm>
            <a:off x="8412480" y="2487168"/>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2" name="Step text 2"/>
          <p:cNvSpPr txBox="1"/>
          <p:nvPr/>
        </p:nvSpPr>
        <p:spPr>
          <a:xfrm>
            <a:off x="9006840" y="2441448"/>
            <a:ext cx="2606040" cy="822960"/>
          </a:xfrm>
          <a:prstGeom prst="rect">
            <a:avLst/>
          </a:prstGeom>
          <a:noFill/>
          <a:ln/>
        </p:spPr>
        <p:txBody>
          <a:bodyPr wrap="square" lIns="0" tIns="0" rIns="0" bIns="0" rtlCol="0" anchor="t"/>
          <a:lstStyle/>
          <a:p>
            <a:pPr marL="0" indent="0">
              <a:buNone/>
            </a:pPr>
            <a:r>
              <a:rPr lang="en-US" sz="1600" b="1" dirty="0">
                <a:solidFill>
                  <a:schemeClr val="bg1"/>
                </a:solidFill>
              </a:rPr>
              <a:t>Half Adder 1</a:t>
            </a:r>
            <a:endParaRPr lang="en-US" sz="1400" dirty="0"/>
          </a:p>
          <a:p>
            <a:pPr marL="0" indent="0">
              <a:buNone/>
            </a:pPr>
            <a:r>
              <a:rPr lang="en-US" sz="1400" dirty="0">
                <a:solidFill>
                  <a:schemeClr val="bg2"/>
                </a:solidFill>
              </a:rPr>
              <a:t>XOR1 + AND1 take A and B</a:t>
            </a:r>
            <a:endParaRPr lang="en-US" sz="1400" dirty="0"/>
          </a:p>
        </p:txBody>
      </p:sp>
      <p:sp>
        <p:nvSpPr>
          <p:cNvPr id="13" name="Step 3"/>
          <p:cNvSpPr/>
          <p:nvPr/>
        </p:nvSpPr>
        <p:spPr>
          <a:xfrm>
            <a:off x="8412480" y="3419856"/>
            <a:ext cx="411480" cy="411480"/>
          </a:xfrm>
          <a:prstGeom prst="ellipse">
            <a:avLst/>
          </a:prstGeom>
          <a:solidFill>
            <a:schemeClr val="accent1"/>
          </a:solidFill>
          <a:ln w="6350">
            <a:solidFill>
              <a:schemeClr val="accent1"/>
            </a:solidFill>
            <a:prstDash val="solid"/>
          </a:ln>
        </p:spPr>
      </p:sp>
      <p:sp>
        <p:nvSpPr>
          <p:cNvPr id="14" name="Step number 3"/>
          <p:cNvSpPr txBox="1"/>
          <p:nvPr/>
        </p:nvSpPr>
        <p:spPr>
          <a:xfrm>
            <a:off x="8412480" y="3419856"/>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5" name="Step text 3"/>
          <p:cNvSpPr txBox="1"/>
          <p:nvPr/>
        </p:nvSpPr>
        <p:spPr>
          <a:xfrm>
            <a:off x="9006840" y="3374136"/>
            <a:ext cx="2606040" cy="822960"/>
          </a:xfrm>
          <a:prstGeom prst="rect">
            <a:avLst/>
          </a:prstGeom>
          <a:noFill/>
          <a:ln/>
        </p:spPr>
        <p:txBody>
          <a:bodyPr wrap="square" lIns="0" tIns="0" rIns="0" bIns="0" rtlCol="0" anchor="t"/>
          <a:lstStyle/>
          <a:p>
            <a:pPr marL="0" indent="0">
              <a:buNone/>
            </a:pPr>
            <a:r>
              <a:rPr lang="en-US" sz="1600" b="1" dirty="0">
                <a:solidFill>
                  <a:schemeClr val="bg1"/>
                </a:solidFill>
              </a:rPr>
              <a:t>Half Adder 2</a:t>
            </a:r>
            <a:endParaRPr lang="en-US" sz="1400" dirty="0"/>
          </a:p>
          <a:p>
            <a:pPr marL="0" indent="0">
              <a:buNone/>
            </a:pPr>
            <a:r>
              <a:rPr lang="en-US" sz="1400" dirty="0">
                <a:solidFill>
                  <a:schemeClr val="bg2"/>
                </a:solidFill>
              </a:rPr>
              <a:t>XOR2 + AND2 take (A XOR B) and Cin</a:t>
            </a:r>
            <a:endParaRPr lang="en-US" sz="1400" dirty="0"/>
          </a:p>
        </p:txBody>
      </p:sp>
      <p:sp>
        <p:nvSpPr>
          <p:cNvPr id="16" name="Step 4"/>
          <p:cNvSpPr/>
          <p:nvPr/>
        </p:nvSpPr>
        <p:spPr>
          <a:xfrm>
            <a:off x="8412480" y="4352544"/>
            <a:ext cx="411480" cy="411480"/>
          </a:xfrm>
          <a:prstGeom prst="ellipse">
            <a:avLst/>
          </a:prstGeom>
          <a:solidFill>
            <a:schemeClr val="accent1"/>
          </a:solidFill>
          <a:ln w="6350">
            <a:solidFill>
              <a:schemeClr val="accent1"/>
            </a:solidFill>
            <a:prstDash val="solid"/>
          </a:ln>
        </p:spPr>
      </p:sp>
      <p:sp>
        <p:nvSpPr>
          <p:cNvPr id="17" name="Step number 4"/>
          <p:cNvSpPr txBox="1"/>
          <p:nvPr/>
        </p:nvSpPr>
        <p:spPr>
          <a:xfrm>
            <a:off x="8412480" y="4352544"/>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18" name="Step text 4"/>
          <p:cNvSpPr txBox="1"/>
          <p:nvPr/>
        </p:nvSpPr>
        <p:spPr>
          <a:xfrm>
            <a:off x="9006840" y="4306824"/>
            <a:ext cx="2606040" cy="822960"/>
          </a:xfrm>
          <a:prstGeom prst="rect">
            <a:avLst/>
          </a:prstGeom>
          <a:noFill/>
          <a:ln/>
        </p:spPr>
        <p:txBody>
          <a:bodyPr wrap="square" lIns="0" tIns="0" rIns="0" bIns="0" rtlCol="0" anchor="t"/>
          <a:lstStyle/>
          <a:p>
            <a:pPr marL="0" indent="0">
              <a:buNone/>
            </a:pPr>
            <a:r>
              <a:rPr lang="en-US" sz="1600" b="1" dirty="0">
                <a:solidFill>
                  <a:schemeClr val="bg1"/>
                </a:solidFill>
              </a:rPr>
              <a:t>Combine carries</a:t>
            </a:r>
            <a:endParaRPr lang="en-US" sz="1400" dirty="0"/>
          </a:p>
          <a:p>
            <a:pPr marL="0" indent="0">
              <a:buNone/>
            </a:pPr>
            <a:r>
              <a:rPr lang="en-US" sz="1400" dirty="0">
                <a:solidFill>
                  <a:schemeClr val="bg2"/>
                </a:solidFill>
              </a:rPr>
              <a:t>OR gate merges both carries</a:t>
            </a:r>
            <a:endParaRPr lang="en-US" sz="1400" dirty="0"/>
          </a:p>
        </p:txBody>
      </p:sp>
      <p:sp>
        <p:nvSpPr>
          <p:cNvPr id="19" name="Step 5"/>
          <p:cNvSpPr/>
          <p:nvPr/>
        </p:nvSpPr>
        <p:spPr>
          <a:xfrm>
            <a:off x="8412480" y="5285232"/>
            <a:ext cx="411480" cy="411480"/>
          </a:xfrm>
          <a:prstGeom prst="ellipse">
            <a:avLst/>
          </a:prstGeom>
          <a:solidFill>
            <a:schemeClr val="accent1"/>
          </a:solidFill>
          <a:ln w="6350">
            <a:solidFill>
              <a:schemeClr val="accent1"/>
            </a:solidFill>
            <a:prstDash val="solid"/>
          </a:ln>
        </p:spPr>
      </p:sp>
      <p:sp>
        <p:nvSpPr>
          <p:cNvPr id="20" name="Step number 5"/>
          <p:cNvSpPr txBox="1"/>
          <p:nvPr/>
        </p:nvSpPr>
        <p:spPr>
          <a:xfrm>
            <a:off x="8412480" y="5285232"/>
            <a:ext cx="411480" cy="411480"/>
          </a:xfrm>
          <a:prstGeom prst="rect">
            <a:avLst/>
          </a:prstGeom>
          <a:noFill/>
          <a:ln/>
        </p:spPr>
        <p:txBody>
          <a:bodyPr wrap="square" lIns="0" tIns="0" rIns="0" bIns="0" rtlCol="0" anchor="ctr"/>
          <a:lstStyle/>
          <a:p>
            <a:pPr marL="0" indent="0" algn="ctr">
              <a:buNone/>
            </a:pPr>
            <a:r>
              <a:rPr lang="en-US" sz="1600" b="1" dirty="0">
                <a:solidFill>
                  <a:schemeClr val="tx1"/>
                </a:solidFill>
              </a:rPr>
              <a:t>5</a:t>
            </a:r>
            <a:endParaRPr lang="en-US" sz="1600" dirty="0"/>
          </a:p>
        </p:txBody>
      </p:sp>
      <p:sp>
        <p:nvSpPr>
          <p:cNvPr id="21" name="Step text 5"/>
          <p:cNvSpPr txBox="1"/>
          <p:nvPr/>
        </p:nvSpPr>
        <p:spPr>
          <a:xfrm>
            <a:off x="9006840" y="5239512"/>
            <a:ext cx="2606040" cy="822960"/>
          </a:xfrm>
          <a:prstGeom prst="rect">
            <a:avLst/>
          </a:prstGeom>
          <a:noFill/>
          <a:ln/>
        </p:spPr>
        <p:txBody>
          <a:bodyPr wrap="square" lIns="0" tIns="0" rIns="0" bIns="0" rtlCol="0" anchor="t"/>
          <a:lstStyle/>
          <a:p>
            <a:pPr marL="0" indent="0">
              <a:buNone/>
            </a:pPr>
            <a:r>
              <a:rPr lang="en-US" sz="1600" b="1" dirty="0">
                <a:solidFill>
                  <a:schemeClr val="bg1"/>
                </a:solidFill>
              </a:rPr>
              <a:t>Add outputs</a:t>
            </a:r>
            <a:endParaRPr lang="en-US" sz="1400" dirty="0"/>
          </a:p>
          <a:p>
            <a:pPr marL="0" indent="0">
              <a:buNone/>
            </a:pPr>
            <a:r>
              <a:rPr lang="en-US" sz="1400" dirty="0">
                <a:solidFill>
                  <a:schemeClr val="bg2"/>
                </a:solidFill>
              </a:rPr>
              <a:t>XOR2 gives Sum, OR gives Cout</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9</a:t>
            </a:fld>
            <a:endParaRPr lang="en-US"/>
          </a:p>
        </p:txBody>
      </p:sp>
      <p:pic>
        <p:nvPicPr>
          <p:cNvPr id="26" name="Full Adder Logisim Circuit - Updated" descr="image(20261015-074049).png"/>
          <p:cNvPicPr>
            <a:picLocks noChangeAspect="1"/>
          </p:cNvPicPr>
          <p:nvPr/>
        </p:nvPicPr>
        <p:blipFill>
          <a:blip r:embed="rId4"/>
          <a:stretch>
            <a:fillRect/>
          </a:stretch>
        </p:blipFill>
        <p:spPr>
          <a:xfrm>
            <a:off x="548640" y="1508760"/>
            <a:ext cx="7498080" cy="3536594"/>
          </a:xfrm>
          <a:prstGeom prst="rect">
            <a:avLst/>
          </a:prstGeom>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label"/>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100" b="1" kern="0" spc="300" dirty="0">
                <a:solidFill>
                  <a:schemeClr val="accent1"/>
                </a:solidFill>
              </a:rPr>
              <a:t>SIMULATION</a:t>
            </a:r>
            <a:endParaRPr lang="en-US" sz="1100" dirty="0"/>
          </a:p>
        </p:txBody>
      </p:sp>
      <p:sp>
        <p:nvSpPr>
          <p:cNvPr id="3" name="Text 0"/>
          <p:cNvSpPr>
            <a:spLocks noGrp="1"/>
          </p:cNvSpPr>
          <p:nvPr>
            <p:ph type="title" idx="100" hasCustomPrompt="1"/>
          </p:nvPr>
        </p:nvSpPr>
        <p:spPr>
          <a:xfrm>
            <a:off x="548640" y="566928"/>
            <a:ext cx="9601200" cy="731520"/>
          </a:xfrm>
          <a:prstGeom prst="rect">
            <a:avLst/>
          </a:prstGeom>
          <a:noFill/>
          <a:ln/>
        </p:spPr>
        <p:txBody>
          <a:bodyPr wrap="square" lIns="0" tIns="0" rIns="0" bIns="0" rtlCol="0" anchor="ctr"/>
          <a:lstStyle/>
          <a:p>
            <a:pPr marL="0" indent="0" algn="l">
              <a:buNone/>
            </a:pPr>
            <a:r>
              <a:rPr lang="en-US" sz="3400" b="1" dirty="0">
                <a:solidFill>
                  <a:schemeClr val="bg1"/>
                </a:solidFill>
              </a:rPr>
              <a:t>Simulation in Logisim</a:t>
            </a:r>
            <a:endParaRPr lang="en-US" sz="3400" dirty="0"/>
          </a:p>
        </p:txBody>
      </p:sp>
      <p:sp>
        <p:nvSpPr>
          <p:cNvPr id="4" name="Half adder sim caption"/>
          <p:cNvSpPr txBox="1"/>
          <p:nvPr/>
        </p:nvSpPr>
        <p:spPr>
          <a:xfrm>
            <a:off x="548640" y="1481328"/>
            <a:ext cx="544068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HALF ADDER  ·  A = 1, B = 1  →  SUM 0, CARRY 1</a:t>
            </a:r>
            <a:endParaRPr lang="en-US" sz="1200" dirty="0"/>
          </a:p>
        </p:txBody>
      </p:sp>
      <p:sp>
        <p:nvSpPr>
          <p:cNvPr id="6" name="Full adder sim caption"/>
          <p:cNvSpPr txBox="1"/>
          <p:nvPr/>
        </p:nvSpPr>
        <p:spPr>
          <a:xfrm>
            <a:off x="6172200" y="1481328"/>
            <a:ext cx="544068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FULL ADDER  ·  A = 1, B = 0, Cin = 1  →  SUM 0, COUT 1</a:t>
            </a:r>
            <a:endParaRPr lang="en-US" sz="1200" dirty="0"/>
          </a:p>
        </p:txBody>
      </p:sp>
      <p:pic>
        <p:nvPicPr>
          <p:cNvPr id="7" name="Full adder simulation" descr="Full adder simulation with A = 1, B = 0, Cin = 1"/>
          <p:cNvPicPr>
            <a:picLocks noChangeAspect="1"/>
          </p:cNvPicPr>
          <p:nvPr/>
        </p:nvPicPr>
        <p:blipFill>
          <a:blip r:embed="rId3"/>
          <a:stretch>
            <a:fillRect/>
          </a:stretch>
        </p:blipFill>
        <p:spPr>
          <a:xfrm>
            <a:off x="6172200" y="1828800"/>
            <a:ext cx="5440680" cy="2566187"/>
          </a:xfrm>
          <a:prstGeom prst="rect">
            <a:avLst/>
          </a:prstGeom>
        </p:spPr>
      </p:pic>
      <p:sp>
        <p:nvSpPr>
          <p:cNvPr id="9" name="Result value 1"/>
          <p:cNvSpPr txBox="1"/>
          <p:nvPr/>
        </p:nvSpPr>
        <p:spPr>
          <a:xfrm>
            <a:off x="777240" y="5138928"/>
            <a:ext cx="1463040" cy="822960"/>
          </a:xfrm>
          <a:prstGeom prst="rect">
            <a:avLst/>
          </a:prstGeom>
          <a:noFill/>
          <a:ln/>
        </p:spPr>
        <p:txBody>
          <a:bodyPr wrap="square" lIns="0" tIns="0" rIns="0" bIns="0" rtlCol="0" anchor="ctr"/>
          <a:lstStyle/>
          <a:p>
            <a:pPr marL="0" indent="0">
              <a:buNone/>
            </a:pPr>
            <a:r>
              <a:rPr lang="en-US" sz="3400" b="1" dirty="0">
                <a:solidFill>
                  <a:schemeClr val="accent3"/>
                </a:solidFill>
                <a:latin typeface="Courier New" pitchFamily="34" charset="0"/>
                <a:ea typeface="Courier New" pitchFamily="34" charset="-122"/>
                <a:cs typeface="Courier New" pitchFamily="34" charset="-120"/>
              </a:rPr>
              <a:t>4 / 4</a:t>
            </a:r>
            <a:endParaRPr lang="en-US" sz="3400" dirty="0"/>
          </a:p>
        </p:txBody>
      </p:sp>
      <p:sp>
        <p:nvSpPr>
          <p:cNvPr id="10" name="Result text 1"/>
          <p:cNvSpPr txBox="1"/>
          <p:nvPr/>
        </p:nvSpPr>
        <p:spPr>
          <a:xfrm>
            <a:off x="2331720" y="5138928"/>
            <a:ext cx="1645920" cy="868680"/>
          </a:xfrm>
          <a:prstGeom prst="rect">
            <a:avLst/>
          </a:prstGeom>
          <a:noFill/>
          <a:ln/>
        </p:spPr>
        <p:txBody>
          <a:bodyPr wrap="square" lIns="0" tIns="0" rIns="0" bIns="0" rtlCol="0" anchor="ctr"/>
          <a:lstStyle/>
          <a:p>
            <a:pPr marL="0" indent="0">
              <a:buNone/>
            </a:pPr>
            <a:r>
              <a:rPr lang="en-US" sz="1400" dirty="0">
                <a:solidFill>
                  <a:schemeClr val="bg2"/>
                </a:solidFill>
              </a:rPr>
              <a:t>Half adder input combinations match the truth table</a:t>
            </a:r>
            <a:endParaRPr lang="en-US" sz="1400" dirty="0"/>
          </a:p>
        </p:txBody>
      </p:sp>
      <p:sp>
        <p:nvSpPr>
          <p:cNvPr id="11" name="Result card 2"/>
          <p:cNvSpPr/>
          <p:nvPr/>
        </p:nvSpPr>
        <p:spPr>
          <a:xfrm>
            <a:off x="4297680" y="4983480"/>
            <a:ext cx="3566160" cy="1188720"/>
          </a:xfrm>
          <a:prstGeom prst="roundRect">
            <a:avLst>
              <a:gd name="adj" fmla="val 9231"/>
            </a:avLst>
          </a:prstGeom>
          <a:solidFill>
            <a:schemeClr val="tx2">
              <a:alpha val="85000"/>
            </a:schemeClr>
          </a:solidFill>
          <a:ln w="9525">
            <a:solidFill>
              <a:schemeClr val="accent1">
                <a:alpha val="40000"/>
              </a:schemeClr>
            </a:solidFill>
            <a:prstDash val="solid"/>
          </a:ln>
        </p:spPr>
      </p:sp>
      <p:sp>
        <p:nvSpPr>
          <p:cNvPr id="12" name="Result value 2"/>
          <p:cNvSpPr txBox="1"/>
          <p:nvPr/>
        </p:nvSpPr>
        <p:spPr>
          <a:xfrm>
            <a:off x="4526280" y="5138928"/>
            <a:ext cx="1463040" cy="822960"/>
          </a:xfrm>
          <a:prstGeom prst="rect">
            <a:avLst/>
          </a:prstGeom>
          <a:noFill/>
          <a:ln/>
        </p:spPr>
        <p:txBody>
          <a:bodyPr wrap="square" lIns="0" tIns="0" rIns="0" bIns="0" rtlCol="0" anchor="ctr"/>
          <a:lstStyle/>
          <a:p>
            <a:pPr marL="0" indent="0">
              <a:buNone/>
            </a:pPr>
            <a:r>
              <a:rPr lang="en-US" sz="3400" b="1" dirty="0">
                <a:solidFill>
                  <a:schemeClr val="accent3"/>
                </a:solidFill>
                <a:latin typeface="Courier New" pitchFamily="34" charset="0"/>
                <a:ea typeface="Courier New" pitchFamily="34" charset="-122"/>
                <a:cs typeface="Courier New" pitchFamily="34" charset="-120"/>
              </a:rPr>
              <a:t>8 / 8</a:t>
            </a:r>
            <a:endParaRPr lang="en-US" sz="3400" dirty="0"/>
          </a:p>
        </p:txBody>
      </p:sp>
      <p:sp>
        <p:nvSpPr>
          <p:cNvPr id="13" name="Result text 2"/>
          <p:cNvSpPr txBox="1"/>
          <p:nvPr/>
        </p:nvSpPr>
        <p:spPr>
          <a:xfrm>
            <a:off x="6080760" y="5138928"/>
            <a:ext cx="1645920" cy="868680"/>
          </a:xfrm>
          <a:prstGeom prst="rect">
            <a:avLst/>
          </a:prstGeom>
          <a:noFill/>
          <a:ln/>
        </p:spPr>
        <p:txBody>
          <a:bodyPr wrap="square" lIns="0" tIns="0" rIns="0" bIns="0" rtlCol="0" anchor="ctr"/>
          <a:lstStyle/>
          <a:p>
            <a:pPr marL="0" indent="0">
              <a:buNone/>
            </a:pPr>
            <a:r>
              <a:rPr lang="en-US" sz="1400" dirty="0">
                <a:solidFill>
                  <a:schemeClr val="bg2"/>
                </a:solidFill>
              </a:rPr>
              <a:t>Full adder input combinations match the truth table</a:t>
            </a:r>
            <a:endParaRPr lang="en-US" sz="1400" dirty="0"/>
          </a:p>
        </p:txBody>
      </p:sp>
      <p:sp>
        <p:nvSpPr>
          <p:cNvPr id="14" name="Legend card"/>
          <p:cNvSpPr/>
          <p:nvPr/>
        </p:nvSpPr>
        <p:spPr>
          <a:xfrm>
            <a:off x="8046720" y="4983480"/>
            <a:ext cx="3566160" cy="1188720"/>
          </a:xfrm>
          <a:prstGeom prst="roundRect">
            <a:avLst>
              <a:gd name="adj" fmla="val 9231"/>
            </a:avLst>
          </a:prstGeom>
          <a:solidFill>
            <a:schemeClr val="tx2">
              <a:alpha val="85000"/>
            </a:schemeClr>
          </a:solidFill>
          <a:ln w="9525">
            <a:solidFill>
              <a:schemeClr val="accent1">
                <a:alpha val="40000"/>
              </a:schemeClr>
            </a:solidFill>
            <a:prstDash val="solid"/>
          </a:ln>
        </p:spPr>
      </p:sp>
      <p:sp>
        <p:nvSpPr>
          <p:cNvPr id="15" name="Legend high"/>
          <p:cNvSpPr/>
          <p:nvPr/>
        </p:nvSpPr>
        <p:spPr>
          <a:xfrm>
            <a:off x="8275320" y="5166360"/>
            <a:ext cx="182880" cy="182880"/>
          </a:xfrm>
          <a:prstGeom prst="ellipse">
            <a:avLst/>
          </a:prstGeom>
          <a:solidFill>
            <a:schemeClr val="accent3"/>
          </a:solidFill>
          <a:ln w="6350">
            <a:solidFill>
              <a:schemeClr val="accent3"/>
            </a:solidFill>
            <a:prstDash val="solid"/>
          </a:ln>
        </p:spPr>
      </p:sp>
      <p:sp>
        <p:nvSpPr>
          <p:cNvPr id="16" name="Legend high text"/>
          <p:cNvSpPr txBox="1"/>
          <p:nvPr/>
        </p:nvSpPr>
        <p:spPr>
          <a:xfrm>
            <a:off x="8595360" y="5120640"/>
            <a:ext cx="2926080" cy="274320"/>
          </a:xfrm>
          <a:prstGeom prst="rect">
            <a:avLst/>
          </a:prstGeom>
          <a:noFill/>
          <a:ln/>
        </p:spPr>
        <p:txBody>
          <a:bodyPr wrap="square" lIns="0" tIns="0" rIns="0" bIns="0" rtlCol="0" anchor="t"/>
          <a:lstStyle/>
          <a:p>
            <a:pPr marL="0" indent="0">
              <a:buNone/>
            </a:pPr>
            <a:r>
              <a:rPr lang="en-US" sz="1400" dirty="0">
                <a:solidFill>
                  <a:schemeClr val="bg1"/>
                </a:solidFill>
              </a:rPr>
              <a:t>Bright wire = logic 1</a:t>
            </a:r>
            <a:endParaRPr lang="en-US" sz="1400" dirty="0"/>
          </a:p>
        </p:txBody>
      </p:sp>
      <p:sp>
        <p:nvSpPr>
          <p:cNvPr id="17" name="Legend low"/>
          <p:cNvSpPr/>
          <p:nvPr/>
        </p:nvSpPr>
        <p:spPr>
          <a:xfrm>
            <a:off x="8275320" y="5504688"/>
            <a:ext cx="182880" cy="182880"/>
          </a:xfrm>
          <a:prstGeom prst="ellipse">
            <a:avLst/>
          </a:prstGeom>
          <a:solidFill>
            <a:schemeClr val="tx2"/>
          </a:solidFill>
          <a:ln w="19050">
            <a:solidFill>
              <a:schemeClr val="accent3">
                <a:alpha val="60000"/>
              </a:schemeClr>
            </a:solidFill>
            <a:prstDash val="solid"/>
          </a:ln>
        </p:spPr>
      </p:sp>
      <p:sp>
        <p:nvSpPr>
          <p:cNvPr id="18" name="Legend low text"/>
          <p:cNvSpPr txBox="1"/>
          <p:nvPr/>
        </p:nvSpPr>
        <p:spPr>
          <a:xfrm>
            <a:off x="8595360" y="5458968"/>
            <a:ext cx="2926080" cy="274320"/>
          </a:xfrm>
          <a:prstGeom prst="rect">
            <a:avLst/>
          </a:prstGeom>
          <a:noFill/>
          <a:ln/>
        </p:spPr>
        <p:txBody>
          <a:bodyPr wrap="square" lIns="0" tIns="0" rIns="0" bIns="0" rtlCol="0" anchor="t"/>
          <a:lstStyle/>
          <a:p>
            <a:pPr marL="0" indent="0">
              <a:buNone/>
            </a:pPr>
            <a:r>
              <a:rPr lang="en-US" sz="1400" dirty="0">
                <a:solidFill>
                  <a:schemeClr val="bg1"/>
                </a:solidFill>
              </a:rPr>
              <a:t>Dark wire = logic 0</a:t>
            </a:r>
            <a:endParaRPr lang="en-US" sz="1400" dirty="0"/>
          </a:p>
        </p:txBody>
      </p:sp>
      <p:sp>
        <p:nvSpPr>
          <p:cNvPr id="19" name="Legend tip"/>
          <p:cNvSpPr txBox="1"/>
          <p:nvPr/>
        </p:nvSpPr>
        <p:spPr>
          <a:xfrm>
            <a:off x="8275320" y="5815584"/>
            <a:ext cx="3200400" cy="274320"/>
          </a:xfrm>
          <a:prstGeom prst="rect">
            <a:avLst/>
          </a:prstGeom>
          <a:noFill/>
          <a:ln/>
        </p:spPr>
        <p:txBody>
          <a:bodyPr wrap="square" lIns="0" tIns="0" rIns="0" bIns="0" rtlCol="0" anchor="t"/>
          <a:lstStyle/>
          <a:p>
            <a:pPr marL="0" indent="0">
              <a:buNone/>
            </a:pPr>
            <a:r>
              <a:rPr lang="en-US" sz="1200" dirty="0">
                <a:solidFill>
                  <a:schemeClr val="bg2"/>
                </a:solidFill>
              </a:rPr>
              <a:t>Tip: Project ▸ Analyze Circuit builds the truth table.</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10</a:t>
            </a:fld>
            <a:endParaRPr lang="en-US"/>
          </a:p>
        </p:txBody>
      </p:sp>
      <p:pic>
        <p:nvPicPr>
          <p:cNvPr id="26" name="Picture 25" descr="half_adder_circuit.png"/>
          <p:cNvPicPr>
            <a:picLocks noChangeAspect="1"/>
          </p:cNvPicPr>
          <p:nvPr/>
        </p:nvPicPr>
        <p:blipFill>
          <a:blip r:embed="rId4"/>
          <a:stretch>
            <a:fillRect/>
          </a:stretch>
        </p:blipFill>
        <p:spPr>
          <a:xfrm>
            <a:off x="548640" y="1828800"/>
            <a:ext cx="5440680" cy="2817063"/>
          </a:xfrm>
          <a:prstGeom prst="rect">
            <a:avLst/>
          </a:prstGeom>
        </p:spPr>
      </p:pic>
      <p:pic>
        <p:nvPicPr>
          <p:cNvPr id="27" name="Picture 26" descr="full_adder_circuit.png"/>
          <p:cNvPicPr>
            <a:picLocks noChangeAspect="1"/>
          </p:cNvPicPr>
          <p:nvPr/>
        </p:nvPicPr>
        <p:blipFill>
          <a:blip r:embed="rId5"/>
          <a:stretch>
            <a:fillRect/>
          </a:stretch>
        </p:blipFill>
        <p:spPr>
          <a:xfrm>
            <a:off x="548640" y="4983480"/>
            <a:ext cx="3566160" cy="1188720"/>
          </a:xfrm>
          <a:prstGeom prst="rect">
            <a:avLst/>
          </a:prstGeom>
        </p:spPr>
      </p:pic>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label"/>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100" b="1" kern="0" spc="300" dirty="0">
                <a:solidFill>
                  <a:schemeClr val="accent1"/>
                </a:solidFill>
              </a:rPr>
              <a:t>SUMMARY</a:t>
            </a:r>
            <a:endParaRPr lang="en-US" sz="1100" dirty="0"/>
          </a:p>
        </p:txBody>
      </p:sp>
      <p:sp>
        <p:nvSpPr>
          <p:cNvPr id="3" name="Text 0"/>
          <p:cNvSpPr>
            <a:spLocks noGrp="1"/>
          </p:cNvSpPr>
          <p:nvPr>
            <p:ph type="title" idx="100" hasCustomPrompt="1"/>
          </p:nvPr>
        </p:nvSpPr>
        <p:spPr>
          <a:xfrm>
            <a:off x="548640" y="566928"/>
            <a:ext cx="9601200" cy="731520"/>
          </a:xfrm>
          <a:prstGeom prst="rect">
            <a:avLst/>
          </a:prstGeom>
          <a:noFill/>
          <a:ln/>
        </p:spPr>
        <p:txBody>
          <a:bodyPr wrap="square" lIns="0" tIns="0" rIns="0" bIns="0" rtlCol="0" anchor="ctr"/>
          <a:lstStyle/>
          <a:p>
            <a:pPr marL="0" indent="0" algn="l">
              <a:buNone/>
            </a:pPr>
            <a:r>
              <a:rPr lang="en-US" sz="3400" b="1" dirty="0">
                <a:solidFill>
                  <a:schemeClr val="bg1"/>
                </a:solidFill>
              </a:rPr>
              <a:t>Half Adder vs Full Adder</a:t>
            </a:r>
            <a:endParaRPr lang="en-US" sz="3400" dirty="0"/>
          </a:p>
        </p:txBody>
      </p:sp>
      <p:graphicFrame>
        <p:nvGraphicFramePr>
          <p:cNvPr id="12" name="Comparison table"/>
          <p:cNvGraphicFramePr>
            <a:graphicFrameLocks noGrp="1"/>
          </p:cNvGraphicFramePr>
          <p:nvPr>
            <p:extLst>
              <p:ext uri="{D42A27DB-BD31-4B8C-83A1-F6EECF244321}">
                <p14:modId xmlns:p14="http://schemas.microsoft.com/office/powerpoint/2010/main" val="1579011935"/>
              </p:ext>
            </p:extLst>
          </p:nvPr>
        </p:nvGraphicFramePr>
        <p:xfrm>
          <a:off x="548640" y="1508760"/>
          <a:ext cx="6035040" cy="3401568"/>
        </p:xfrm>
        <a:graphic>
          <a:graphicData uri="http://schemas.openxmlformats.org/drawingml/2006/table">
            <a:tbl>
              <a:tblPr/>
              <a:tblGrid>
                <a:gridCol w="1463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566928">
                <a:tc>
                  <a:txBody>
                    <a:bodyPr/>
                    <a:lstStyle/>
                    <a:p>
                      <a:pPr marL="0" indent="0" algn="l">
                        <a:buNone/>
                      </a:pPr>
                      <a:r>
                        <a:rPr lang="en-US" sz="1500" b="1" dirty="0">
                          <a:solidFill>
                            <a:schemeClr val="bg1"/>
                          </a:solidFill>
                        </a:rPr>
                        <a:t>Feature</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2">
                        <a:alpha val="45000"/>
                      </a:schemeClr>
                    </a:solidFill>
                  </a:tcPr>
                </a:tc>
                <a:tc>
                  <a:txBody>
                    <a:bodyPr/>
                    <a:lstStyle/>
                    <a:p>
                      <a:pPr marL="0" indent="0" algn="l">
                        <a:buNone/>
                      </a:pPr>
                      <a:r>
                        <a:rPr lang="en-US" sz="1500" b="1" dirty="0">
                          <a:solidFill>
                            <a:schemeClr val="accent1"/>
                          </a:solidFill>
                        </a:rPr>
                        <a:t>Half Adder</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2">
                        <a:alpha val="45000"/>
                      </a:schemeClr>
                    </a:solidFill>
                  </a:tcPr>
                </a:tc>
                <a:tc>
                  <a:txBody>
                    <a:bodyPr/>
                    <a:lstStyle/>
                    <a:p>
                      <a:pPr marL="0" indent="0" algn="l">
                        <a:buNone/>
                      </a:pPr>
                      <a:r>
                        <a:rPr lang="en-US" sz="1500" b="1" dirty="0">
                          <a:solidFill>
                            <a:schemeClr val="accent1"/>
                          </a:solidFill>
                        </a:rPr>
                        <a:t>Full Adder</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accent2">
                        <a:alpha val="45000"/>
                      </a:schemeClr>
                    </a:solidFill>
                  </a:tcPr>
                </a:tc>
                <a:extLst>
                  <a:ext uri="{0D108BD9-81ED-4DB2-BD59-A6C34878D82A}">
                    <a16:rowId xmlns:a16="http://schemas.microsoft.com/office/drawing/2014/main" val="10000"/>
                  </a:ext>
                </a:extLst>
              </a:tr>
              <a:tr h="566928">
                <a:tc>
                  <a:txBody>
                    <a:bodyPr/>
                    <a:lstStyle/>
                    <a:p>
                      <a:pPr marL="0" indent="0" algn="l">
                        <a:buNone/>
                      </a:pPr>
                      <a:r>
                        <a:rPr lang="en-US" sz="1500" b="1" dirty="0">
                          <a:solidFill>
                            <a:schemeClr val="accent1"/>
                          </a:solidFill>
                        </a:rPr>
                        <a:t>Inputs</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l">
                        <a:buNone/>
                      </a:pPr>
                      <a:r>
                        <a:rPr lang="en-US" sz="1500" dirty="0">
                          <a:solidFill>
                            <a:schemeClr val="bg1"/>
                          </a:solidFill>
                        </a:rPr>
                        <a:t>A, B</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l">
                        <a:buNone/>
                      </a:pPr>
                      <a:r>
                        <a:rPr lang="en-US" sz="1500" dirty="0">
                          <a:solidFill>
                            <a:schemeClr val="bg1"/>
                          </a:solidFill>
                        </a:rPr>
                        <a:t>A, B, Cin</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extLst>
                  <a:ext uri="{0D108BD9-81ED-4DB2-BD59-A6C34878D82A}">
                    <a16:rowId xmlns:a16="http://schemas.microsoft.com/office/drawing/2014/main" val="10001"/>
                  </a:ext>
                </a:extLst>
              </a:tr>
              <a:tr h="566928">
                <a:tc>
                  <a:txBody>
                    <a:bodyPr/>
                    <a:lstStyle/>
                    <a:p>
                      <a:pPr marL="0" indent="0" algn="l">
                        <a:buNone/>
                      </a:pPr>
                      <a:r>
                        <a:rPr lang="en-US" sz="1500" b="1" dirty="0">
                          <a:solidFill>
                            <a:schemeClr val="accent1"/>
                          </a:solidFill>
                        </a:rPr>
                        <a:t>Outputs</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l">
                        <a:buNone/>
                      </a:pPr>
                      <a:r>
                        <a:rPr lang="en-US" sz="1500" dirty="0">
                          <a:solidFill>
                            <a:schemeClr val="bg1"/>
                          </a:solidFill>
                        </a:rPr>
                        <a:t>Sum, Carry</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l">
                        <a:buNone/>
                      </a:pPr>
                      <a:r>
                        <a:rPr lang="en-US" sz="1500" dirty="0">
                          <a:solidFill>
                            <a:schemeClr val="bg1"/>
                          </a:solidFill>
                        </a:rPr>
                        <a:t>Sum, Cout</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extLst>
                  <a:ext uri="{0D108BD9-81ED-4DB2-BD59-A6C34878D82A}">
                    <a16:rowId xmlns:a16="http://schemas.microsoft.com/office/drawing/2014/main" val="10002"/>
                  </a:ext>
                </a:extLst>
              </a:tr>
              <a:tr h="566928">
                <a:tc>
                  <a:txBody>
                    <a:bodyPr/>
                    <a:lstStyle/>
                    <a:p>
                      <a:pPr marL="0" indent="0" algn="l">
                        <a:buNone/>
                      </a:pPr>
                      <a:r>
                        <a:rPr lang="en-US" sz="1500" b="1" dirty="0">
                          <a:solidFill>
                            <a:schemeClr val="accent1"/>
                          </a:solidFill>
                        </a:rPr>
                        <a:t>Carry-in</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l">
                        <a:buNone/>
                      </a:pPr>
                      <a:r>
                        <a:rPr lang="en-US" sz="1500" dirty="0">
                          <a:solidFill>
                            <a:schemeClr val="bg1"/>
                          </a:solidFill>
                        </a:rPr>
                        <a:t>No</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l">
                        <a:buNone/>
                      </a:pPr>
                      <a:r>
                        <a:rPr lang="en-US" sz="1500" dirty="0">
                          <a:solidFill>
                            <a:schemeClr val="bg1"/>
                          </a:solidFill>
                        </a:rPr>
                        <a:t>Yes</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extLst>
                  <a:ext uri="{0D108BD9-81ED-4DB2-BD59-A6C34878D82A}">
                    <a16:rowId xmlns:a16="http://schemas.microsoft.com/office/drawing/2014/main" val="10003"/>
                  </a:ext>
                </a:extLst>
              </a:tr>
              <a:tr h="566928">
                <a:tc>
                  <a:txBody>
                    <a:bodyPr/>
                    <a:lstStyle/>
                    <a:p>
                      <a:pPr marL="0" indent="0" algn="l">
                        <a:buNone/>
                      </a:pPr>
                      <a:r>
                        <a:rPr lang="en-US" sz="1500" b="1" dirty="0">
                          <a:solidFill>
                            <a:schemeClr val="accent1"/>
                          </a:solidFill>
                        </a:rPr>
                        <a:t>Gates</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l">
                        <a:buNone/>
                      </a:pPr>
                      <a:r>
                        <a:rPr lang="en-US" sz="1500" dirty="0">
                          <a:solidFill>
                            <a:schemeClr val="bg1"/>
                          </a:solidFill>
                        </a:rPr>
                        <a:t>1 XOR + 1 AND</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l">
                        <a:buNone/>
                      </a:pPr>
                      <a:r>
                        <a:rPr lang="en-US" sz="1500" dirty="0">
                          <a:solidFill>
                            <a:schemeClr val="bg1"/>
                          </a:solidFill>
                        </a:rPr>
                        <a:t>2 XOR + 2 AND + 1 OR</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extLst>
                  <a:ext uri="{0D108BD9-81ED-4DB2-BD59-A6C34878D82A}">
                    <a16:rowId xmlns:a16="http://schemas.microsoft.com/office/drawing/2014/main" val="10004"/>
                  </a:ext>
                </a:extLst>
              </a:tr>
              <a:tr h="566928">
                <a:tc>
                  <a:txBody>
                    <a:bodyPr/>
                    <a:lstStyle/>
                    <a:p>
                      <a:pPr marL="0" indent="0" algn="l">
                        <a:buNone/>
                      </a:pPr>
                      <a:r>
                        <a:rPr lang="en-US" sz="1500" b="1" dirty="0">
                          <a:solidFill>
                            <a:schemeClr val="accent1"/>
                          </a:solidFill>
                        </a:rPr>
                        <a:t>Used for</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l">
                        <a:buNone/>
                      </a:pPr>
                      <a:r>
                        <a:rPr lang="en-US" sz="1500" dirty="0">
                          <a:solidFill>
                            <a:schemeClr val="bg1"/>
                          </a:solidFill>
                        </a:rPr>
                        <a:t>Lowest bit only</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tc>
                  <a:txBody>
                    <a:bodyPr/>
                    <a:lstStyle/>
                    <a:p>
                      <a:pPr marL="0" indent="0" algn="l">
                        <a:buNone/>
                      </a:pPr>
                      <a:r>
                        <a:rPr lang="en-US" sz="1500" dirty="0">
                          <a:solidFill>
                            <a:schemeClr val="bg1"/>
                          </a:solidFill>
                        </a:rPr>
                        <a:t>Every higher bit</a:t>
                      </a:r>
                      <a:endParaRPr lang="en-US" sz="1500" dirty="0"/>
                    </a:p>
                  </a:txBody>
                  <a:tcPr marL="109728" marR="109728" marT="0" marB="0" anchor="ctr">
                    <a:lnL w="12700" cap="flat" cmpd="sng" algn="ctr">
                      <a:solidFill>
                        <a:srgbClr val="1B3566"/>
                      </a:solidFill>
                      <a:prstDash val="solid"/>
                      <a:round/>
                      <a:headEnd type="none" w="med" len="med"/>
                      <a:tailEnd type="none" w="med" len="med"/>
                    </a:lnL>
                    <a:lnR w="12700" cap="flat" cmpd="sng" algn="ctr">
                      <a:solidFill>
                        <a:srgbClr val="1B3566"/>
                      </a:solidFill>
                      <a:prstDash val="solid"/>
                      <a:round/>
                      <a:headEnd type="none" w="med" len="med"/>
                      <a:tailEnd type="none" w="med" len="med"/>
                    </a:lnR>
                    <a:lnT w="12700" cap="flat" cmpd="sng" algn="ctr">
                      <a:solidFill>
                        <a:srgbClr val="1B3566"/>
                      </a:solidFill>
                      <a:prstDash val="solid"/>
                      <a:round/>
                      <a:headEnd type="none" w="med" len="med"/>
                      <a:tailEnd type="none" w="med" len="med"/>
                    </a:lnT>
                    <a:lnB w="12700" cap="flat" cmpd="sng" algn="ctr">
                      <a:solidFill>
                        <a:srgbClr val="1B3566"/>
                      </a:solidFill>
                      <a:prstDash val="solid"/>
                      <a:round/>
                      <a:headEnd type="none" w="med" len="med"/>
                      <a:tailEnd type="none" w="med" len="med"/>
                    </a:lnB>
                    <a:solidFill>
                      <a:schemeClr val="tx2">
                        <a:alpha val="75000"/>
                      </a:schemeClr>
                    </a:solidFill>
                  </a:tcPr>
                </a:tc>
                <a:extLst>
                  <a:ext uri="{0D108BD9-81ED-4DB2-BD59-A6C34878D82A}">
                    <a16:rowId xmlns:a16="http://schemas.microsoft.com/office/drawing/2014/main" val="10005"/>
                  </a:ext>
                </a:extLst>
              </a:tr>
            </a:tbl>
          </a:graphicData>
        </a:graphic>
      </p:graphicFrame>
      <p:sp>
        <p:nvSpPr>
          <p:cNvPr id="5" name="Application icon 1 circle"/>
          <p:cNvSpPr/>
          <p:nvPr/>
        </p:nvSpPr>
        <p:spPr>
          <a:xfrm>
            <a:off x="6995160" y="1563624"/>
            <a:ext cx="621792" cy="621792"/>
          </a:xfrm>
          <a:prstGeom prst="ellipse">
            <a:avLst/>
          </a:prstGeom>
          <a:solidFill>
            <a:schemeClr val="tx1"/>
          </a:solidFill>
          <a:ln w="15875">
            <a:solidFill>
              <a:schemeClr val="accent1"/>
            </a:solidFill>
            <a:prstDash val="solid"/>
          </a:ln>
        </p:spPr>
      </p:sp>
      <p:pic>
        <p:nvPicPr>
          <p:cNvPr id="6" name="Application icon 1" descr="Application icon 1"/>
          <p:cNvPicPr>
            <a:picLocks noChangeAspect="1"/>
          </p:cNvPicPr>
          <p:nvPr/>
        </p:nvPicPr>
        <p:blipFill>
          <a:blip r:embed="rId3"/>
          <a:stretch>
            <a:fillRect/>
          </a:stretch>
        </p:blipFill>
        <p:spPr>
          <a:xfrm>
            <a:off x="7163044" y="1731508"/>
            <a:ext cx="286024" cy="286024"/>
          </a:xfrm>
          <a:prstGeom prst="rect">
            <a:avLst/>
          </a:prstGeom>
        </p:spPr>
      </p:pic>
      <p:sp>
        <p:nvSpPr>
          <p:cNvPr id="7" name="Application text 1"/>
          <p:cNvSpPr txBox="1"/>
          <p:nvPr/>
        </p:nvSpPr>
        <p:spPr>
          <a:xfrm>
            <a:off x="7863840" y="1545336"/>
            <a:ext cx="3749040" cy="731520"/>
          </a:xfrm>
          <a:prstGeom prst="rect">
            <a:avLst/>
          </a:prstGeom>
          <a:noFill/>
          <a:ln/>
        </p:spPr>
        <p:txBody>
          <a:bodyPr wrap="square" lIns="0" tIns="0" rIns="0" bIns="0" rtlCol="0" anchor="t"/>
          <a:lstStyle/>
          <a:p>
            <a:pPr marL="0" indent="0">
              <a:buNone/>
            </a:pPr>
            <a:r>
              <a:rPr lang="en-US" sz="1700" b="1" dirty="0">
                <a:solidFill>
                  <a:schemeClr val="bg1"/>
                </a:solidFill>
              </a:rPr>
              <a:t>ALU in processors</a:t>
            </a:r>
            <a:endParaRPr lang="en-US" sz="1400" dirty="0"/>
          </a:p>
          <a:p>
            <a:pPr marL="0" indent="0">
              <a:buNone/>
            </a:pPr>
            <a:r>
              <a:rPr lang="en-US" sz="1400" dirty="0">
                <a:solidFill>
                  <a:schemeClr val="bg2"/>
                </a:solidFill>
              </a:rPr>
              <a:t>Core of every CPU arithmetic unit</a:t>
            </a:r>
            <a:endParaRPr lang="en-US" sz="1400" dirty="0"/>
          </a:p>
        </p:txBody>
      </p:sp>
      <p:sp>
        <p:nvSpPr>
          <p:cNvPr id="8" name="Application icon 2 circle"/>
          <p:cNvSpPr/>
          <p:nvPr/>
        </p:nvSpPr>
        <p:spPr>
          <a:xfrm>
            <a:off x="6995160" y="2432304"/>
            <a:ext cx="621792" cy="621792"/>
          </a:xfrm>
          <a:prstGeom prst="ellipse">
            <a:avLst/>
          </a:prstGeom>
          <a:solidFill>
            <a:schemeClr val="tx1"/>
          </a:solidFill>
          <a:ln w="15875">
            <a:solidFill>
              <a:schemeClr val="accent1"/>
            </a:solidFill>
            <a:prstDash val="solid"/>
          </a:ln>
        </p:spPr>
      </p:sp>
      <p:pic>
        <p:nvPicPr>
          <p:cNvPr id="9" name="Application icon 2" descr="Application icon 2"/>
          <p:cNvPicPr>
            <a:picLocks noChangeAspect="1"/>
          </p:cNvPicPr>
          <p:nvPr/>
        </p:nvPicPr>
        <p:blipFill>
          <a:blip r:embed="rId4"/>
          <a:stretch>
            <a:fillRect/>
          </a:stretch>
        </p:blipFill>
        <p:spPr>
          <a:xfrm>
            <a:off x="7163044" y="2600188"/>
            <a:ext cx="286024" cy="286024"/>
          </a:xfrm>
          <a:prstGeom prst="rect">
            <a:avLst/>
          </a:prstGeom>
        </p:spPr>
      </p:pic>
      <p:sp>
        <p:nvSpPr>
          <p:cNvPr id="10" name="Application text 2"/>
          <p:cNvSpPr txBox="1"/>
          <p:nvPr/>
        </p:nvSpPr>
        <p:spPr>
          <a:xfrm>
            <a:off x="7863840" y="2414016"/>
            <a:ext cx="3749040" cy="731520"/>
          </a:xfrm>
          <a:prstGeom prst="rect">
            <a:avLst/>
          </a:prstGeom>
          <a:noFill/>
          <a:ln/>
        </p:spPr>
        <p:txBody>
          <a:bodyPr wrap="square" lIns="0" tIns="0" rIns="0" bIns="0" rtlCol="0" anchor="t"/>
          <a:lstStyle/>
          <a:p>
            <a:pPr marL="0" indent="0">
              <a:buNone/>
            </a:pPr>
            <a:r>
              <a:rPr lang="en-US" sz="1700" b="1" dirty="0">
                <a:solidFill>
                  <a:schemeClr val="bg1"/>
                </a:solidFill>
              </a:rPr>
              <a:t>Ripple-carry adders</a:t>
            </a:r>
            <a:endParaRPr lang="en-US" sz="1400" dirty="0"/>
          </a:p>
          <a:p>
            <a:pPr marL="0" indent="0">
              <a:buNone/>
            </a:pPr>
            <a:r>
              <a:rPr lang="en-US" sz="1400" dirty="0">
                <a:solidFill>
                  <a:schemeClr val="bg2"/>
                </a:solidFill>
              </a:rPr>
              <a:t>Full adders chained for N-bit sums</a:t>
            </a:r>
            <a:endParaRPr lang="en-US" sz="1400" dirty="0"/>
          </a:p>
        </p:txBody>
      </p:sp>
      <p:sp>
        <p:nvSpPr>
          <p:cNvPr id="11" name="Application icon 3 circle"/>
          <p:cNvSpPr/>
          <p:nvPr/>
        </p:nvSpPr>
        <p:spPr>
          <a:xfrm>
            <a:off x="6995160" y="3300984"/>
            <a:ext cx="621792" cy="621792"/>
          </a:xfrm>
          <a:prstGeom prst="ellipse">
            <a:avLst/>
          </a:prstGeom>
          <a:solidFill>
            <a:schemeClr val="tx1"/>
          </a:solidFill>
          <a:ln w="15875">
            <a:solidFill>
              <a:schemeClr val="accent1"/>
            </a:solidFill>
            <a:prstDash val="solid"/>
          </a:ln>
        </p:spPr>
      </p:sp>
      <p:pic>
        <p:nvPicPr>
          <p:cNvPr id="4" name="Application icon 3" descr="Application icon 3"/>
          <p:cNvPicPr>
            <a:picLocks noChangeAspect="1"/>
          </p:cNvPicPr>
          <p:nvPr/>
        </p:nvPicPr>
        <p:blipFill>
          <a:blip r:embed="rId5"/>
          <a:stretch>
            <a:fillRect/>
          </a:stretch>
        </p:blipFill>
        <p:spPr>
          <a:xfrm>
            <a:off x="7163044" y="3468868"/>
            <a:ext cx="286024" cy="286024"/>
          </a:xfrm>
          <a:prstGeom prst="rect">
            <a:avLst/>
          </a:prstGeom>
        </p:spPr>
      </p:pic>
      <p:sp>
        <p:nvSpPr>
          <p:cNvPr id="13" name="Application text 3"/>
          <p:cNvSpPr txBox="1"/>
          <p:nvPr/>
        </p:nvSpPr>
        <p:spPr>
          <a:xfrm>
            <a:off x="7863840" y="3282696"/>
            <a:ext cx="3749040" cy="731520"/>
          </a:xfrm>
          <a:prstGeom prst="rect">
            <a:avLst/>
          </a:prstGeom>
          <a:noFill/>
          <a:ln/>
        </p:spPr>
        <p:txBody>
          <a:bodyPr wrap="square" lIns="0" tIns="0" rIns="0" bIns="0" rtlCol="0" anchor="t"/>
          <a:lstStyle/>
          <a:p>
            <a:pPr marL="0" indent="0">
              <a:buNone/>
            </a:pPr>
            <a:r>
              <a:rPr lang="en-US" sz="1700" b="1" dirty="0">
                <a:solidFill>
                  <a:schemeClr val="bg1"/>
                </a:solidFill>
              </a:rPr>
              <a:t>Counters and timers</a:t>
            </a:r>
            <a:endParaRPr lang="en-US" sz="1400" dirty="0"/>
          </a:p>
          <a:p>
            <a:pPr marL="0" indent="0">
              <a:buNone/>
            </a:pPr>
            <a:r>
              <a:rPr lang="en-US" sz="1400" dirty="0">
                <a:solidFill>
                  <a:schemeClr val="bg2"/>
                </a:solidFill>
              </a:rPr>
              <a:t>Increment logic uses half adders</a:t>
            </a:r>
            <a:endParaRPr lang="en-US" sz="1400" dirty="0"/>
          </a:p>
        </p:txBody>
      </p:sp>
      <p:sp>
        <p:nvSpPr>
          <p:cNvPr id="14" name="Application icon 4 circle"/>
          <p:cNvSpPr/>
          <p:nvPr/>
        </p:nvSpPr>
        <p:spPr>
          <a:xfrm>
            <a:off x="6995160" y="4169664"/>
            <a:ext cx="621792" cy="621792"/>
          </a:xfrm>
          <a:prstGeom prst="ellipse">
            <a:avLst/>
          </a:prstGeom>
          <a:solidFill>
            <a:schemeClr val="tx1"/>
          </a:solidFill>
          <a:ln w="15875">
            <a:solidFill>
              <a:schemeClr val="accent1"/>
            </a:solidFill>
            <a:prstDash val="solid"/>
          </a:ln>
        </p:spPr>
      </p:sp>
      <p:pic>
        <p:nvPicPr>
          <p:cNvPr id="15" name="Application icon 4" descr="Application icon 4"/>
          <p:cNvPicPr>
            <a:picLocks noChangeAspect="1"/>
          </p:cNvPicPr>
          <p:nvPr/>
        </p:nvPicPr>
        <p:blipFill>
          <a:blip r:embed="rId6"/>
          <a:stretch>
            <a:fillRect/>
          </a:stretch>
        </p:blipFill>
        <p:spPr>
          <a:xfrm>
            <a:off x="7163044" y="4337548"/>
            <a:ext cx="286024" cy="286024"/>
          </a:xfrm>
          <a:prstGeom prst="rect">
            <a:avLst/>
          </a:prstGeom>
        </p:spPr>
      </p:pic>
      <p:sp>
        <p:nvSpPr>
          <p:cNvPr id="16" name="Application text 4"/>
          <p:cNvSpPr txBox="1"/>
          <p:nvPr/>
        </p:nvSpPr>
        <p:spPr>
          <a:xfrm>
            <a:off x="7863840" y="4151376"/>
            <a:ext cx="3749040" cy="731520"/>
          </a:xfrm>
          <a:prstGeom prst="rect">
            <a:avLst/>
          </a:prstGeom>
          <a:noFill/>
          <a:ln/>
        </p:spPr>
        <p:txBody>
          <a:bodyPr wrap="square" lIns="0" tIns="0" rIns="0" bIns="0" rtlCol="0" anchor="t"/>
          <a:lstStyle/>
          <a:p>
            <a:pPr marL="0" indent="0">
              <a:buNone/>
            </a:pPr>
            <a:r>
              <a:rPr lang="en-US" sz="1700" b="1" dirty="0">
                <a:solidFill>
                  <a:schemeClr val="bg1"/>
                </a:solidFill>
              </a:rPr>
              <a:t>Addressing and DSP</a:t>
            </a:r>
            <a:endParaRPr lang="en-US" sz="1400" dirty="0"/>
          </a:p>
          <a:p>
            <a:pPr marL="0" indent="0">
              <a:buNone/>
            </a:pPr>
            <a:r>
              <a:rPr lang="en-US" sz="1400" dirty="0">
                <a:solidFill>
                  <a:schemeClr val="bg2"/>
                </a:solidFill>
              </a:rPr>
              <a:t>Address calculation, multipliers, filters</a:t>
            </a:r>
            <a:endParaRPr lang="en-US" sz="1400" dirty="0"/>
          </a:p>
        </p:txBody>
      </p:sp>
      <p:sp>
        <p:nvSpPr>
          <p:cNvPr id="17" name="Chain label"/>
          <p:cNvSpPr txBox="1"/>
          <p:nvPr/>
        </p:nvSpPr>
        <p:spPr>
          <a:xfrm>
            <a:off x="548640" y="5138928"/>
            <a:ext cx="2926080" cy="256032"/>
          </a:xfrm>
          <a:prstGeom prst="rect">
            <a:avLst/>
          </a:prstGeom>
          <a:noFill/>
          <a:ln/>
        </p:spPr>
        <p:txBody>
          <a:bodyPr wrap="square" lIns="0" tIns="0" rIns="0" bIns="0" rtlCol="0" anchor="t"/>
          <a:lstStyle/>
          <a:p>
            <a:pPr marL="0" indent="0">
              <a:buNone/>
            </a:pPr>
            <a:r>
              <a:rPr lang="en-US" sz="1100" b="1" kern="0" spc="300" dirty="0">
                <a:solidFill>
                  <a:schemeClr val="accent1"/>
                </a:solidFill>
              </a:rPr>
              <a:t>CHAINING FULL ADDERS</a:t>
            </a:r>
            <a:endParaRPr lang="en-US" sz="1100" dirty="0"/>
          </a:p>
        </p:txBody>
      </p:sp>
      <p:sp>
        <p:nvSpPr>
          <p:cNvPr id="18" name="Chain text"/>
          <p:cNvSpPr txBox="1"/>
          <p:nvPr/>
        </p:nvSpPr>
        <p:spPr>
          <a:xfrm>
            <a:off x="548640" y="5440680"/>
            <a:ext cx="2834640" cy="731520"/>
          </a:xfrm>
          <a:prstGeom prst="rect">
            <a:avLst/>
          </a:prstGeom>
          <a:noFill/>
          <a:ln/>
        </p:spPr>
        <p:txBody>
          <a:bodyPr wrap="square" lIns="0" tIns="0" rIns="0" bIns="0" rtlCol="0" anchor="t"/>
          <a:lstStyle/>
          <a:p>
            <a:pPr marL="0" indent="0">
              <a:buNone/>
            </a:pPr>
            <a:r>
              <a:rPr lang="en-US" sz="1400" dirty="0">
                <a:solidFill>
                  <a:schemeClr val="bg2"/>
                </a:solidFill>
              </a:rPr>
              <a:t>Cout of one stage feeds Cin of the next, giving an N-bit adder.</a:t>
            </a:r>
            <a:endParaRPr lang="en-US" sz="1400" dirty="0"/>
          </a:p>
        </p:txBody>
      </p:sp>
      <p:sp>
        <p:nvSpPr>
          <p:cNvPr id="19" name="Chain box FA0"/>
          <p:cNvSpPr/>
          <p:nvPr/>
        </p:nvSpPr>
        <p:spPr>
          <a:xfrm>
            <a:off x="3657600" y="5349240"/>
            <a:ext cx="1325880" cy="731520"/>
          </a:xfrm>
          <a:prstGeom prst="roundRect">
            <a:avLst>
              <a:gd name="adj" fmla="val 12500"/>
            </a:avLst>
          </a:prstGeom>
          <a:solidFill>
            <a:schemeClr val="tx2"/>
          </a:solidFill>
          <a:ln w="19050">
            <a:solidFill>
              <a:schemeClr val="accent1"/>
            </a:solidFill>
            <a:prstDash val="solid"/>
          </a:ln>
        </p:spPr>
      </p:sp>
      <p:sp>
        <p:nvSpPr>
          <p:cNvPr id="20" name="Chain text FA0"/>
          <p:cNvSpPr txBox="1"/>
          <p:nvPr/>
        </p:nvSpPr>
        <p:spPr>
          <a:xfrm>
            <a:off x="3657600" y="5349240"/>
            <a:ext cx="1325880" cy="731520"/>
          </a:xfrm>
          <a:prstGeom prst="rect">
            <a:avLst/>
          </a:prstGeom>
          <a:noFill/>
          <a:ln/>
        </p:spPr>
        <p:txBody>
          <a:bodyPr wrap="square" lIns="0" tIns="0" rIns="0" bIns="0" rtlCol="0" anchor="ctr"/>
          <a:lstStyle/>
          <a:p>
            <a:pPr marL="0" indent="0" algn="ctr">
              <a:buNone/>
            </a:pPr>
            <a:r>
              <a:rPr lang="en-US" sz="2000" b="1" dirty="0">
                <a:solidFill>
                  <a:schemeClr val="bg1"/>
                </a:solidFill>
              </a:rPr>
              <a:t>FA0</a:t>
            </a:r>
            <a:endParaRPr lang="en-US" sz="2000" dirty="0"/>
          </a:p>
        </p:txBody>
      </p:sp>
      <p:sp>
        <p:nvSpPr>
          <p:cNvPr id="21" name="Carry arrow 1"/>
          <p:cNvSpPr/>
          <p:nvPr/>
        </p:nvSpPr>
        <p:spPr>
          <a:xfrm>
            <a:off x="5001768" y="5715000"/>
            <a:ext cx="603504" cy="0"/>
          </a:xfrm>
          <a:prstGeom prst="line">
            <a:avLst/>
          </a:prstGeom>
          <a:noFill/>
          <a:ln w="31750">
            <a:solidFill>
              <a:schemeClr val="accent4"/>
            </a:solidFill>
            <a:prstDash val="solid"/>
            <a:tailEnd type="triangle"/>
          </a:ln>
        </p:spPr>
      </p:sp>
      <p:sp>
        <p:nvSpPr>
          <p:cNvPr id="22" name="Carry label 1"/>
          <p:cNvSpPr txBox="1"/>
          <p:nvPr/>
        </p:nvSpPr>
        <p:spPr>
          <a:xfrm>
            <a:off x="5001768" y="5413248"/>
            <a:ext cx="603504" cy="228600"/>
          </a:xfrm>
          <a:prstGeom prst="rect">
            <a:avLst/>
          </a:prstGeom>
          <a:noFill/>
          <a:ln/>
        </p:spPr>
        <p:txBody>
          <a:bodyPr wrap="square" lIns="0" tIns="0" rIns="0" bIns="0" rtlCol="0" anchor="t"/>
          <a:lstStyle/>
          <a:p>
            <a:pPr marL="0" indent="0" algn="ctr">
              <a:buNone/>
            </a:pPr>
            <a:r>
              <a:rPr lang="en-US" sz="1200" b="1" dirty="0">
                <a:solidFill>
                  <a:schemeClr val="accent4"/>
                </a:solidFill>
              </a:rPr>
              <a:t>C1</a:t>
            </a:r>
            <a:endParaRPr lang="en-US" sz="1200" dirty="0"/>
          </a:p>
        </p:txBody>
      </p:sp>
      <p:sp>
        <p:nvSpPr>
          <p:cNvPr id="23" name="Chain box FA1"/>
          <p:cNvSpPr/>
          <p:nvPr/>
        </p:nvSpPr>
        <p:spPr>
          <a:xfrm>
            <a:off x="5623560" y="5349240"/>
            <a:ext cx="1325880" cy="731520"/>
          </a:xfrm>
          <a:prstGeom prst="roundRect">
            <a:avLst>
              <a:gd name="adj" fmla="val 12500"/>
            </a:avLst>
          </a:prstGeom>
          <a:solidFill>
            <a:schemeClr val="tx2"/>
          </a:solidFill>
          <a:ln w="19050">
            <a:solidFill>
              <a:schemeClr val="accent1"/>
            </a:solidFill>
            <a:prstDash val="solid"/>
          </a:ln>
        </p:spPr>
      </p:sp>
      <p:sp>
        <p:nvSpPr>
          <p:cNvPr id="24" name="Chain text FA1"/>
          <p:cNvSpPr txBox="1"/>
          <p:nvPr/>
        </p:nvSpPr>
        <p:spPr>
          <a:xfrm>
            <a:off x="5623560" y="5349240"/>
            <a:ext cx="1325880" cy="731520"/>
          </a:xfrm>
          <a:prstGeom prst="rect">
            <a:avLst/>
          </a:prstGeom>
          <a:noFill/>
          <a:ln/>
        </p:spPr>
        <p:txBody>
          <a:bodyPr wrap="square" lIns="0" tIns="0" rIns="0" bIns="0" rtlCol="0" anchor="ctr"/>
          <a:lstStyle/>
          <a:p>
            <a:pPr marL="0" indent="0" algn="ctr">
              <a:buNone/>
            </a:pPr>
            <a:r>
              <a:rPr lang="en-US" sz="2000" b="1" dirty="0">
                <a:solidFill>
                  <a:schemeClr val="bg1"/>
                </a:solidFill>
              </a:rPr>
              <a:t>FA1</a:t>
            </a:r>
            <a:endParaRPr lang="en-US" sz="2000" dirty="0"/>
          </a:p>
        </p:txBody>
      </p:sp>
      <p:sp>
        <p:nvSpPr>
          <p:cNvPr id="25" name="Carry arrow 2"/>
          <p:cNvSpPr/>
          <p:nvPr/>
        </p:nvSpPr>
        <p:spPr>
          <a:xfrm>
            <a:off x="6967728" y="5715000"/>
            <a:ext cx="603504" cy="0"/>
          </a:xfrm>
          <a:prstGeom prst="line">
            <a:avLst/>
          </a:prstGeom>
          <a:noFill/>
          <a:ln w="31750">
            <a:solidFill>
              <a:schemeClr val="accent4"/>
            </a:solidFill>
            <a:prstDash val="solid"/>
            <a:tailEnd type="triangle"/>
          </a:ln>
        </p:spPr>
      </p:sp>
      <p:sp>
        <p:nvSpPr>
          <p:cNvPr id="26" name="Carry label 2"/>
          <p:cNvSpPr txBox="1"/>
          <p:nvPr/>
        </p:nvSpPr>
        <p:spPr>
          <a:xfrm>
            <a:off x="6967728" y="5413248"/>
            <a:ext cx="603504" cy="228600"/>
          </a:xfrm>
          <a:prstGeom prst="rect">
            <a:avLst/>
          </a:prstGeom>
          <a:noFill/>
          <a:ln/>
        </p:spPr>
        <p:txBody>
          <a:bodyPr wrap="square" lIns="0" tIns="0" rIns="0" bIns="0" rtlCol="0" anchor="t"/>
          <a:lstStyle/>
          <a:p>
            <a:pPr marL="0" indent="0" algn="ctr">
              <a:buNone/>
            </a:pPr>
            <a:r>
              <a:rPr lang="en-US" sz="1200" b="1" dirty="0">
                <a:solidFill>
                  <a:schemeClr val="accent4"/>
                </a:solidFill>
              </a:rPr>
              <a:t>C2</a:t>
            </a:r>
            <a:endParaRPr lang="en-US" sz="1200" dirty="0"/>
          </a:p>
        </p:txBody>
      </p:sp>
      <p:sp>
        <p:nvSpPr>
          <p:cNvPr id="27" name="Chain box FA2"/>
          <p:cNvSpPr/>
          <p:nvPr/>
        </p:nvSpPr>
        <p:spPr>
          <a:xfrm>
            <a:off x="7589520" y="5349240"/>
            <a:ext cx="1325880" cy="731520"/>
          </a:xfrm>
          <a:prstGeom prst="roundRect">
            <a:avLst>
              <a:gd name="adj" fmla="val 12500"/>
            </a:avLst>
          </a:prstGeom>
          <a:solidFill>
            <a:schemeClr val="tx2"/>
          </a:solidFill>
          <a:ln w="19050">
            <a:solidFill>
              <a:schemeClr val="accent1"/>
            </a:solidFill>
            <a:prstDash val="solid"/>
          </a:ln>
        </p:spPr>
      </p:sp>
      <p:sp>
        <p:nvSpPr>
          <p:cNvPr id="28" name="Chain text FA2"/>
          <p:cNvSpPr txBox="1"/>
          <p:nvPr/>
        </p:nvSpPr>
        <p:spPr>
          <a:xfrm>
            <a:off x="7589520" y="5349240"/>
            <a:ext cx="1325880" cy="731520"/>
          </a:xfrm>
          <a:prstGeom prst="rect">
            <a:avLst/>
          </a:prstGeom>
          <a:noFill/>
          <a:ln/>
        </p:spPr>
        <p:txBody>
          <a:bodyPr wrap="square" lIns="0" tIns="0" rIns="0" bIns="0" rtlCol="0" anchor="ctr"/>
          <a:lstStyle/>
          <a:p>
            <a:pPr marL="0" indent="0" algn="ctr">
              <a:buNone/>
            </a:pPr>
            <a:r>
              <a:rPr lang="en-US" sz="2000" b="1" dirty="0">
                <a:solidFill>
                  <a:schemeClr val="bg1"/>
                </a:solidFill>
              </a:rPr>
              <a:t>FA2</a:t>
            </a:r>
            <a:endParaRPr lang="en-US" sz="2000" dirty="0"/>
          </a:p>
        </p:txBody>
      </p:sp>
      <p:sp>
        <p:nvSpPr>
          <p:cNvPr id="29" name="Carry arrow 3"/>
          <p:cNvSpPr/>
          <p:nvPr/>
        </p:nvSpPr>
        <p:spPr>
          <a:xfrm>
            <a:off x="8933688" y="5715000"/>
            <a:ext cx="603504" cy="0"/>
          </a:xfrm>
          <a:prstGeom prst="line">
            <a:avLst/>
          </a:prstGeom>
          <a:noFill/>
          <a:ln w="31750">
            <a:solidFill>
              <a:schemeClr val="accent4"/>
            </a:solidFill>
            <a:prstDash val="solid"/>
            <a:tailEnd type="triangle"/>
          </a:ln>
        </p:spPr>
      </p:sp>
      <p:sp>
        <p:nvSpPr>
          <p:cNvPr id="30" name="Carry label 3"/>
          <p:cNvSpPr txBox="1"/>
          <p:nvPr/>
        </p:nvSpPr>
        <p:spPr>
          <a:xfrm>
            <a:off x="8933688" y="5413248"/>
            <a:ext cx="603504" cy="228600"/>
          </a:xfrm>
          <a:prstGeom prst="rect">
            <a:avLst/>
          </a:prstGeom>
          <a:noFill/>
          <a:ln/>
        </p:spPr>
        <p:txBody>
          <a:bodyPr wrap="square" lIns="0" tIns="0" rIns="0" bIns="0" rtlCol="0" anchor="t"/>
          <a:lstStyle/>
          <a:p>
            <a:pPr marL="0" indent="0" algn="ctr">
              <a:buNone/>
            </a:pPr>
            <a:r>
              <a:rPr lang="en-US" sz="1200" b="1" dirty="0">
                <a:solidFill>
                  <a:schemeClr val="accent4"/>
                </a:solidFill>
              </a:rPr>
              <a:t>C3</a:t>
            </a:r>
            <a:endParaRPr lang="en-US" sz="1200" dirty="0"/>
          </a:p>
        </p:txBody>
      </p:sp>
      <p:sp>
        <p:nvSpPr>
          <p:cNvPr id="31" name="Chain box FA3"/>
          <p:cNvSpPr/>
          <p:nvPr/>
        </p:nvSpPr>
        <p:spPr>
          <a:xfrm>
            <a:off x="9555480" y="5349240"/>
            <a:ext cx="1325880" cy="731520"/>
          </a:xfrm>
          <a:prstGeom prst="roundRect">
            <a:avLst>
              <a:gd name="adj" fmla="val 12500"/>
            </a:avLst>
          </a:prstGeom>
          <a:solidFill>
            <a:schemeClr val="tx2"/>
          </a:solidFill>
          <a:ln w="19050">
            <a:solidFill>
              <a:schemeClr val="accent1"/>
            </a:solidFill>
            <a:prstDash val="solid"/>
          </a:ln>
        </p:spPr>
      </p:sp>
      <p:sp>
        <p:nvSpPr>
          <p:cNvPr id="32" name="Chain text FA3"/>
          <p:cNvSpPr txBox="1"/>
          <p:nvPr/>
        </p:nvSpPr>
        <p:spPr>
          <a:xfrm>
            <a:off x="9555480" y="5349240"/>
            <a:ext cx="1325880" cy="731520"/>
          </a:xfrm>
          <a:prstGeom prst="rect">
            <a:avLst/>
          </a:prstGeom>
          <a:noFill/>
          <a:ln/>
        </p:spPr>
        <p:txBody>
          <a:bodyPr wrap="square" lIns="0" tIns="0" rIns="0" bIns="0" rtlCol="0" anchor="ctr"/>
          <a:lstStyle/>
          <a:p>
            <a:pPr marL="0" indent="0" algn="ctr">
              <a:buNone/>
            </a:pPr>
            <a:r>
              <a:rPr lang="en-US" sz="2000" b="1" dirty="0">
                <a:solidFill>
                  <a:schemeClr val="bg1"/>
                </a:solidFill>
              </a:rPr>
              <a:t>FA3</a:t>
            </a:r>
            <a:endParaRPr lang="en-US" sz="2000" dirty="0"/>
          </a:p>
        </p:txBody>
      </p:sp>
      <p:sp>
        <p:nvSpPr>
          <p:cNvPr id="33"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85216" y="548640"/>
            <a:ext cx="8229600" cy="822960"/>
          </a:xfrm>
          <a:prstGeom prst="rect">
            <a:avLst/>
          </a:prstGeom>
          <a:noFill/>
          <a:ln/>
        </p:spPr>
        <p:txBody>
          <a:bodyPr wrap="square" lIns="0" tIns="0" rIns="0" bIns="0" rtlCol="0" anchor="ctr"/>
          <a:lstStyle/>
          <a:p>
            <a:pPr marL="0" indent="0" algn="l">
              <a:buNone/>
            </a:pPr>
            <a:r>
              <a:rPr lang="en-US" sz="4000" b="1" dirty="0">
                <a:solidFill>
                  <a:schemeClr val="bg1"/>
                </a:solidFill>
              </a:rPr>
              <a:t>Conclusion</a:t>
            </a:r>
            <a:endParaRPr lang="en-US" sz="4000" dirty="0"/>
          </a:p>
        </p:txBody>
      </p:sp>
      <p:sp>
        <p:nvSpPr>
          <p:cNvPr id="3" name="Takeaway card 1"/>
          <p:cNvSpPr/>
          <p:nvPr/>
        </p:nvSpPr>
        <p:spPr>
          <a:xfrm>
            <a:off x="585216" y="1691640"/>
            <a:ext cx="3520440" cy="2514600"/>
          </a:xfrm>
          <a:prstGeom prst="roundRect">
            <a:avLst>
              <a:gd name="adj" fmla="val 4364"/>
            </a:avLst>
          </a:prstGeom>
          <a:solidFill>
            <a:schemeClr val="tx2">
              <a:alpha val="85000"/>
            </a:schemeClr>
          </a:solidFill>
          <a:ln w="9525">
            <a:solidFill>
              <a:schemeClr val="accent1">
                <a:alpha val="40000"/>
              </a:schemeClr>
            </a:solidFill>
            <a:prstDash val="solid"/>
          </a:ln>
        </p:spPr>
      </p:sp>
      <p:sp>
        <p:nvSpPr>
          <p:cNvPr id="4" name="Takeaway icon 1 circle"/>
          <p:cNvSpPr/>
          <p:nvPr/>
        </p:nvSpPr>
        <p:spPr>
          <a:xfrm>
            <a:off x="859536" y="1920240"/>
            <a:ext cx="640080" cy="640080"/>
          </a:xfrm>
          <a:prstGeom prst="ellipse">
            <a:avLst/>
          </a:prstGeom>
          <a:solidFill>
            <a:schemeClr val="tx1"/>
          </a:solidFill>
          <a:ln w="15875">
            <a:solidFill>
              <a:schemeClr val="accent1"/>
            </a:solidFill>
            <a:prstDash val="solid"/>
          </a:ln>
        </p:spPr>
      </p:sp>
      <p:pic>
        <p:nvPicPr>
          <p:cNvPr id="5" name="Takeaway icon 1" descr="Takeaway icon 1"/>
          <p:cNvPicPr>
            <a:picLocks noChangeAspect="1"/>
          </p:cNvPicPr>
          <p:nvPr/>
        </p:nvPicPr>
        <p:blipFill>
          <a:blip r:embed="rId3"/>
          <a:stretch>
            <a:fillRect/>
          </a:stretch>
        </p:blipFill>
        <p:spPr>
          <a:xfrm>
            <a:off x="1032358" y="2093062"/>
            <a:ext cx="294437" cy="294437"/>
          </a:xfrm>
          <a:prstGeom prst="rect">
            <a:avLst/>
          </a:prstGeom>
        </p:spPr>
      </p:pic>
      <p:sp>
        <p:nvSpPr>
          <p:cNvPr id="6" name="Takeaway title 1"/>
          <p:cNvSpPr txBox="1"/>
          <p:nvPr/>
        </p:nvSpPr>
        <p:spPr>
          <a:xfrm>
            <a:off x="1682496" y="2057400"/>
            <a:ext cx="2194560" cy="365760"/>
          </a:xfrm>
          <a:prstGeom prst="rect">
            <a:avLst/>
          </a:prstGeom>
          <a:noFill/>
          <a:ln/>
        </p:spPr>
        <p:txBody>
          <a:bodyPr wrap="square" lIns="0" tIns="0" rIns="0" bIns="0" rtlCol="0" anchor="t"/>
          <a:lstStyle/>
          <a:p>
            <a:pPr marL="0" indent="0">
              <a:buNone/>
            </a:pPr>
            <a:r>
              <a:rPr lang="en-US" sz="2200" b="1" dirty="0">
                <a:solidFill>
                  <a:schemeClr val="bg1"/>
                </a:solidFill>
              </a:rPr>
              <a:t>Half Adder</a:t>
            </a:r>
            <a:endParaRPr lang="en-US" sz="2200" dirty="0"/>
          </a:p>
        </p:txBody>
      </p:sp>
      <p:sp>
        <p:nvSpPr>
          <p:cNvPr id="7" name="Takeaway lines 1"/>
          <p:cNvSpPr txBox="1"/>
          <p:nvPr/>
        </p:nvSpPr>
        <p:spPr>
          <a:xfrm>
            <a:off x="859536" y="2926080"/>
            <a:ext cx="3063240" cy="640080"/>
          </a:xfrm>
          <a:prstGeom prst="rect">
            <a:avLst/>
          </a:prstGeom>
          <a:noFill/>
          <a:ln/>
        </p:spPr>
        <p:txBody>
          <a:bodyPr wrap="square" lIns="0" tIns="0" rIns="0" bIns="0" rtlCol="0" anchor="t"/>
          <a:lstStyle/>
          <a:p>
            <a:pPr marL="0" indent="0">
              <a:buNone/>
            </a:pPr>
            <a:r>
              <a:rPr lang="en-US" sz="1600" b="1" dirty="0">
                <a:solidFill>
                  <a:schemeClr val="accent1"/>
                </a:solidFill>
                <a:latin typeface="Courier New" pitchFamily="34" charset="0"/>
                <a:ea typeface="Courier New" pitchFamily="34" charset="-122"/>
                <a:cs typeface="Courier New" pitchFamily="34" charset="-120"/>
              </a:rPr>
              <a:t>S = A ⊕ B</a:t>
            </a:r>
            <a:endParaRPr lang="en-US" sz="1600" dirty="0"/>
          </a:p>
          <a:p>
            <a:pPr marL="0" indent="0">
              <a:buNone/>
            </a:pPr>
            <a:r>
              <a:rPr lang="en-US" sz="1600" b="1" dirty="0">
                <a:solidFill>
                  <a:schemeClr val="accent1"/>
                </a:solidFill>
                <a:latin typeface="Courier New" pitchFamily="34" charset="0"/>
                <a:ea typeface="Courier New" pitchFamily="34" charset="-122"/>
                <a:cs typeface="Courier New" pitchFamily="34" charset="-120"/>
              </a:rPr>
              <a:t>C = A · B</a:t>
            </a:r>
            <a:endParaRPr lang="en-US" sz="1600" dirty="0"/>
          </a:p>
        </p:txBody>
      </p:sp>
      <p:sp>
        <p:nvSpPr>
          <p:cNvPr id="8" name="Takeaway text 1"/>
          <p:cNvSpPr txBox="1"/>
          <p:nvPr/>
        </p:nvSpPr>
        <p:spPr>
          <a:xfrm>
            <a:off x="859536" y="3657600"/>
            <a:ext cx="3063240" cy="411480"/>
          </a:xfrm>
          <a:prstGeom prst="rect">
            <a:avLst/>
          </a:prstGeom>
          <a:noFill/>
          <a:ln/>
        </p:spPr>
        <p:txBody>
          <a:bodyPr wrap="square" lIns="0" tIns="0" rIns="0" bIns="0" rtlCol="0" anchor="t"/>
          <a:lstStyle/>
          <a:p>
            <a:pPr marL="0" indent="0">
              <a:buNone/>
            </a:pPr>
            <a:r>
              <a:rPr lang="en-US" sz="1400" dirty="0">
                <a:solidFill>
                  <a:schemeClr val="bg2"/>
                </a:solidFill>
              </a:rPr>
              <a:t>Adds two bits</a:t>
            </a:r>
            <a:endParaRPr lang="en-US" sz="1400" dirty="0"/>
          </a:p>
        </p:txBody>
      </p:sp>
      <p:sp>
        <p:nvSpPr>
          <p:cNvPr id="9" name="Takeaway card 2"/>
          <p:cNvSpPr/>
          <p:nvPr/>
        </p:nvSpPr>
        <p:spPr>
          <a:xfrm>
            <a:off x="4334256" y="1691640"/>
            <a:ext cx="3520440" cy="2514600"/>
          </a:xfrm>
          <a:prstGeom prst="roundRect">
            <a:avLst>
              <a:gd name="adj" fmla="val 4364"/>
            </a:avLst>
          </a:prstGeom>
          <a:solidFill>
            <a:schemeClr val="tx2">
              <a:alpha val="85000"/>
            </a:schemeClr>
          </a:solidFill>
          <a:ln w="9525">
            <a:solidFill>
              <a:schemeClr val="accent1">
                <a:alpha val="40000"/>
              </a:schemeClr>
            </a:solidFill>
            <a:prstDash val="solid"/>
          </a:ln>
        </p:spPr>
      </p:sp>
      <p:sp>
        <p:nvSpPr>
          <p:cNvPr id="10" name="Takeaway icon 2 circle"/>
          <p:cNvSpPr/>
          <p:nvPr/>
        </p:nvSpPr>
        <p:spPr>
          <a:xfrm>
            <a:off x="4608576" y="1920240"/>
            <a:ext cx="640080" cy="640080"/>
          </a:xfrm>
          <a:prstGeom prst="ellipse">
            <a:avLst/>
          </a:prstGeom>
          <a:solidFill>
            <a:schemeClr val="tx1"/>
          </a:solidFill>
          <a:ln w="15875">
            <a:solidFill>
              <a:schemeClr val="accent1"/>
            </a:solidFill>
            <a:prstDash val="solid"/>
          </a:ln>
        </p:spPr>
      </p:sp>
      <p:pic>
        <p:nvPicPr>
          <p:cNvPr id="11" name="Takeaway icon 2" descr="Takeaway icon 2"/>
          <p:cNvPicPr>
            <a:picLocks noChangeAspect="1"/>
          </p:cNvPicPr>
          <p:nvPr/>
        </p:nvPicPr>
        <p:blipFill>
          <a:blip r:embed="rId4"/>
          <a:stretch>
            <a:fillRect/>
          </a:stretch>
        </p:blipFill>
        <p:spPr>
          <a:xfrm>
            <a:off x="4781398" y="2093062"/>
            <a:ext cx="294437" cy="294437"/>
          </a:xfrm>
          <a:prstGeom prst="rect">
            <a:avLst/>
          </a:prstGeom>
        </p:spPr>
      </p:pic>
      <p:sp>
        <p:nvSpPr>
          <p:cNvPr id="12" name="Takeaway title 2"/>
          <p:cNvSpPr txBox="1"/>
          <p:nvPr/>
        </p:nvSpPr>
        <p:spPr>
          <a:xfrm>
            <a:off x="5431536" y="2057400"/>
            <a:ext cx="2194560" cy="365760"/>
          </a:xfrm>
          <a:prstGeom prst="rect">
            <a:avLst/>
          </a:prstGeom>
          <a:noFill/>
          <a:ln/>
        </p:spPr>
        <p:txBody>
          <a:bodyPr wrap="square" lIns="0" tIns="0" rIns="0" bIns="0" rtlCol="0" anchor="t"/>
          <a:lstStyle/>
          <a:p>
            <a:pPr marL="0" indent="0">
              <a:buNone/>
            </a:pPr>
            <a:r>
              <a:rPr lang="en-US" sz="2200" b="1" dirty="0">
                <a:solidFill>
                  <a:schemeClr val="bg1"/>
                </a:solidFill>
              </a:rPr>
              <a:t>Full Adder</a:t>
            </a:r>
            <a:endParaRPr lang="en-US" sz="2200" dirty="0"/>
          </a:p>
        </p:txBody>
      </p:sp>
      <p:sp>
        <p:nvSpPr>
          <p:cNvPr id="13" name="Takeaway lines 2"/>
          <p:cNvSpPr txBox="1"/>
          <p:nvPr/>
        </p:nvSpPr>
        <p:spPr>
          <a:xfrm>
            <a:off x="4608576" y="2926080"/>
            <a:ext cx="3063240" cy="640080"/>
          </a:xfrm>
          <a:prstGeom prst="rect">
            <a:avLst/>
          </a:prstGeom>
          <a:noFill/>
          <a:ln/>
        </p:spPr>
        <p:txBody>
          <a:bodyPr wrap="square" lIns="0" tIns="0" rIns="0" bIns="0" rtlCol="0" anchor="t"/>
          <a:lstStyle/>
          <a:p>
            <a:pPr marL="0" indent="0">
              <a:buNone/>
            </a:pPr>
            <a:r>
              <a:rPr lang="en-US" sz="1600" b="1" dirty="0">
                <a:solidFill>
                  <a:schemeClr val="accent1"/>
                </a:solidFill>
                <a:latin typeface="Courier New" pitchFamily="34" charset="0"/>
                <a:ea typeface="Courier New" pitchFamily="34" charset="-122"/>
                <a:cs typeface="Courier New" pitchFamily="34" charset="-120"/>
              </a:rPr>
              <a:t>S = A ⊕ B ⊕ Cin</a:t>
            </a:r>
            <a:endParaRPr lang="en-US" sz="1600" dirty="0"/>
          </a:p>
          <a:p>
            <a:pPr marL="0" indent="0">
              <a:buNone/>
            </a:pPr>
            <a:r>
              <a:rPr lang="en-US" sz="1600" b="1" dirty="0">
                <a:solidFill>
                  <a:schemeClr val="accent1"/>
                </a:solidFill>
                <a:latin typeface="Courier New" pitchFamily="34" charset="0"/>
                <a:ea typeface="Courier New" pitchFamily="34" charset="-122"/>
                <a:cs typeface="Courier New" pitchFamily="34" charset="-120"/>
              </a:rPr>
              <a:t>Cout = AB + Cin(A ⊕ B)</a:t>
            </a:r>
            <a:endParaRPr lang="en-US" sz="1600" dirty="0"/>
          </a:p>
        </p:txBody>
      </p:sp>
      <p:sp>
        <p:nvSpPr>
          <p:cNvPr id="14" name="Takeaway text 2"/>
          <p:cNvSpPr txBox="1"/>
          <p:nvPr/>
        </p:nvSpPr>
        <p:spPr>
          <a:xfrm>
            <a:off x="4608576" y="3657600"/>
            <a:ext cx="3063240" cy="411480"/>
          </a:xfrm>
          <a:prstGeom prst="rect">
            <a:avLst/>
          </a:prstGeom>
          <a:noFill/>
          <a:ln/>
        </p:spPr>
        <p:txBody>
          <a:bodyPr wrap="square" lIns="0" tIns="0" rIns="0" bIns="0" rtlCol="0" anchor="t"/>
          <a:lstStyle/>
          <a:p>
            <a:pPr marL="0" indent="0">
              <a:buNone/>
            </a:pPr>
            <a:r>
              <a:rPr lang="en-US" sz="1400" dirty="0">
                <a:solidFill>
                  <a:schemeClr val="bg2"/>
                </a:solidFill>
              </a:rPr>
              <a:t>Adds two bits and a carry-in</a:t>
            </a:r>
            <a:endParaRPr lang="en-US" sz="1400" dirty="0"/>
          </a:p>
        </p:txBody>
      </p:sp>
      <p:sp>
        <p:nvSpPr>
          <p:cNvPr id="15" name="Takeaway card 3"/>
          <p:cNvSpPr/>
          <p:nvPr/>
        </p:nvSpPr>
        <p:spPr>
          <a:xfrm>
            <a:off x="8083296" y="1691640"/>
            <a:ext cx="3520440" cy="2514600"/>
          </a:xfrm>
          <a:prstGeom prst="roundRect">
            <a:avLst>
              <a:gd name="adj" fmla="val 4364"/>
            </a:avLst>
          </a:prstGeom>
          <a:solidFill>
            <a:schemeClr val="tx2">
              <a:alpha val="85000"/>
            </a:schemeClr>
          </a:solidFill>
          <a:ln w="9525">
            <a:solidFill>
              <a:schemeClr val="accent1">
                <a:alpha val="40000"/>
              </a:schemeClr>
            </a:solidFill>
            <a:prstDash val="solid"/>
          </a:ln>
        </p:spPr>
      </p:sp>
      <p:sp>
        <p:nvSpPr>
          <p:cNvPr id="16" name="Takeaway icon 3 circle"/>
          <p:cNvSpPr/>
          <p:nvPr/>
        </p:nvSpPr>
        <p:spPr>
          <a:xfrm>
            <a:off x="8357616" y="1920240"/>
            <a:ext cx="640080" cy="640080"/>
          </a:xfrm>
          <a:prstGeom prst="ellipse">
            <a:avLst/>
          </a:prstGeom>
          <a:solidFill>
            <a:schemeClr val="tx1"/>
          </a:solidFill>
          <a:ln w="15875">
            <a:solidFill>
              <a:schemeClr val="accent1"/>
            </a:solidFill>
            <a:prstDash val="solid"/>
          </a:ln>
        </p:spPr>
      </p:sp>
      <p:pic>
        <p:nvPicPr>
          <p:cNvPr id="17" name="Takeaway icon 3" descr="Takeaway icon 3"/>
          <p:cNvPicPr>
            <a:picLocks noChangeAspect="1"/>
          </p:cNvPicPr>
          <p:nvPr/>
        </p:nvPicPr>
        <p:blipFill>
          <a:blip r:embed="rId5"/>
          <a:stretch>
            <a:fillRect/>
          </a:stretch>
        </p:blipFill>
        <p:spPr>
          <a:xfrm>
            <a:off x="8530438" y="2093062"/>
            <a:ext cx="294437" cy="294437"/>
          </a:xfrm>
          <a:prstGeom prst="rect">
            <a:avLst/>
          </a:prstGeom>
        </p:spPr>
      </p:pic>
      <p:sp>
        <p:nvSpPr>
          <p:cNvPr id="18" name="Takeaway title 3"/>
          <p:cNvSpPr txBox="1"/>
          <p:nvPr/>
        </p:nvSpPr>
        <p:spPr>
          <a:xfrm>
            <a:off x="9180576" y="2057400"/>
            <a:ext cx="2194560" cy="365760"/>
          </a:xfrm>
          <a:prstGeom prst="rect">
            <a:avLst/>
          </a:prstGeom>
          <a:noFill/>
          <a:ln/>
        </p:spPr>
        <p:txBody>
          <a:bodyPr wrap="square" lIns="0" tIns="0" rIns="0" bIns="0" rtlCol="0" anchor="t"/>
          <a:lstStyle/>
          <a:p>
            <a:pPr marL="0" indent="0">
              <a:buNone/>
            </a:pPr>
            <a:r>
              <a:rPr lang="en-US" sz="2200" b="1" dirty="0">
                <a:solidFill>
                  <a:schemeClr val="bg1"/>
                </a:solidFill>
              </a:rPr>
              <a:t>Logisim</a:t>
            </a:r>
            <a:endParaRPr lang="en-US" sz="2200" dirty="0"/>
          </a:p>
        </p:txBody>
      </p:sp>
      <p:sp>
        <p:nvSpPr>
          <p:cNvPr id="19" name="Takeaway lines 3"/>
          <p:cNvSpPr txBox="1"/>
          <p:nvPr/>
        </p:nvSpPr>
        <p:spPr>
          <a:xfrm>
            <a:off x="8357616" y="2926080"/>
            <a:ext cx="3063240" cy="640080"/>
          </a:xfrm>
          <a:prstGeom prst="rect">
            <a:avLst/>
          </a:prstGeom>
          <a:noFill/>
          <a:ln/>
        </p:spPr>
        <p:txBody>
          <a:bodyPr wrap="square" lIns="0" tIns="0" rIns="0" bIns="0" rtlCol="0" anchor="t"/>
          <a:lstStyle/>
          <a:p>
            <a:pPr marL="0" indent="0">
              <a:buNone/>
            </a:pPr>
            <a:r>
              <a:rPr lang="en-US" sz="1500" b="1" dirty="0">
                <a:solidFill>
                  <a:schemeClr val="accent1"/>
                </a:solidFill>
              </a:rPr>
              <a:t>Drag-and-drop gates</a:t>
            </a:r>
            <a:endParaRPr lang="en-US" sz="1500" dirty="0"/>
          </a:p>
          <a:p>
            <a:pPr marL="0" indent="0">
              <a:buNone/>
            </a:pPr>
            <a:r>
              <a:rPr lang="en-US" sz="1500" b="1" dirty="0">
                <a:solidFill>
                  <a:schemeClr val="accent1"/>
                </a:solidFill>
              </a:rPr>
              <a:t>Live simulation</a:t>
            </a:r>
            <a:endParaRPr lang="en-US" sz="1500" dirty="0"/>
          </a:p>
        </p:txBody>
      </p:sp>
      <p:sp>
        <p:nvSpPr>
          <p:cNvPr id="20" name="Takeaway text 3"/>
          <p:cNvSpPr txBox="1"/>
          <p:nvPr/>
        </p:nvSpPr>
        <p:spPr>
          <a:xfrm>
            <a:off x="8357616" y="3657600"/>
            <a:ext cx="3063240" cy="411480"/>
          </a:xfrm>
          <a:prstGeom prst="rect">
            <a:avLst/>
          </a:prstGeom>
          <a:noFill/>
          <a:ln/>
        </p:spPr>
        <p:txBody>
          <a:bodyPr wrap="square" lIns="0" tIns="0" rIns="0" bIns="0" rtlCol="0" anchor="t"/>
          <a:lstStyle/>
          <a:p>
            <a:pPr marL="0" indent="0">
              <a:buNone/>
            </a:pPr>
            <a:r>
              <a:rPr lang="en-US" sz="1400" dirty="0">
                <a:solidFill>
                  <a:schemeClr val="bg2"/>
                </a:solidFill>
              </a:rPr>
              <a:t>Results match the truth tables</a:t>
            </a:r>
            <a:endParaRPr lang="en-US" sz="1400" dirty="0"/>
          </a:p>
        </p:txBody>
      </p:sp>
      <p:sp>
        <p:nvSpPr>
          <p:cNvPr id="21" name="Thank you"/>
          <p:cNvSpPr txBox="1"/>
          <p:nvPr/>
        </p:nvSpPr>
        <p:spPr>
          <a:xfrm>
            <a:off x="585216" y="4572000"/>
            <a:ext cx="5486400" cy="731520"/>
          </a:xfrm>
          <a:prstGeom prst="rect">
            <a:avLst/>
          </a:prstGeom>
          <a:noFill/>
          <a:ln/>
        </p:spPr>
        <p:txBody>
          <a:bodyPr wrap="square" lIns="0" tIns="0" rIns="0" bIns="0" rtlCol="0" anchor="t"/>
          <a:lstStyle/>
          <a:p>
            <a:pPr marL="0" indent="0">
              <a:buNone/>
            </a:pPr>
            <a:r>
              <a:rPr lang="en-US" sz="4400" b="1" dirty="0">
                <a:solidFill>
                  <a:schemeClr val="bg1"/>
                </a:solidFill>
              </a:rPr>
              <a:t>Thank You</a:t>
            </a:r>
            <a:endParaRPr lang="en-US" sz="4400" dirty="0"/>
          </a:p>
        </p:txBody>
      </p:sp>
      <p:sp>
        <p:nvSpPr>
          <p:cNvPr id="25" name="Team footer"/>
          <p:cNvSpPr txBox="1"/>
          <p:nvPr/>
        </p:nvSpPr>
        <p:spPr>
          <a:xfrm>
            <a:off x="585216" y="6172200"/>
            <a:ext cx="10058400" cy="274320"/>
          </a:xfrm>
          <a:prstGeom prst="rect">
            <a:avLst/>
          </a:prstGeom>
          <a:noFill/>
          <a:ln/>
        </p:spPr>
        <p:txBody>
          <a:bodyPr wrap="square" lIns="0" tIns="0" rIns="0" bIns="0" rtlCol="0" anchor="t"/>
          <a:lstStyle/>
          <a:p>
            <a:pPr marL="0" indent="0">
              <a:buNone/>
            </a:pPr>
            <a:endParaRPr lang="en-US" sz="1200" dirty="0"/>
          </a:p>
        </p:txBody>
      </p:sp>
      <p:sp>
        <p:nvSpPr>
          <p:cNvPr id="26"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12</a:t>
            </a:fld>
            <a:endParaRPr lang="en-US"/>
          </a:p>
        </p:txBody>
      </p:sp>
    </p:spTree>
  </p:cSld>
  <p:clrMapOvr>
    <a:masterClrMapping/>
  </p:clrMapOvr>
  <p:transition spd="med">
    <p:fade/>
  </p:transition>
</p:sld>
</file>

<file path=ppt/theme/theme1.xml><?xml version="1.0" encoding="utf-8"?>
<a:theme xmlns:a="http://schemas.openxmlformats.org/drawingml/2006/main" name="Digital Logic Navy">
  <a:themeElements>
    <a:clrScheme name="Digital Logic Navy">
      <a:dk1>
        <a:srgbClr val="060B1A"/>
      </a:dk1>
      <a:lt1>
        <a:srgbClr val="FFFFFF"/>
      </a:lt1>
      <a:dk2>
        <a:srgbClr val="0C1B38"/>
      </a:dk2>
      <a:lt2>
        <a:srgbClr val="CFE8FF"/>
      </a:lt2>
      <a:accent1>
        <a:srgbClr val="00E5FF"/>
      </a:accent1>
      <a:accent2>
        <a:srgbClr val="2F80FF"/>
      </a:accent2>
      <a:accent3>
        <a:srgbClr val="39FF88"/>
      </a:accent3>
      <a:accent4>
        <a:srgbClr val="FFB020"/>
      </a:accent4>
      <a:accent5>
        <a:srgbClr val="7C5CFF"/>
      </a:accent5>
      <a:accent6>
        <a:srgbClr val="FF4D6D"/>
      </a:accent6>
      <a:hlink>
        <a:srgbClr val="00E5FF"/>
      </a:hlink>
      <a:folHlink>
        <a:srgbClr val="7C5CFF"/>
      </a:folHlink>
    </a:clrScheme>
    <a:fontScheme name="Digital Logic Nav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1547</Words>
  <Application>Microsoft Office PowerPoint</Application>
  <PresentationFormat>Widescreen</PresentationFormat>
  <Paragraphs>305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Courier New</vt:lpstr>
      <vt:lpstr>Digital Logic Navy</vt:lpstr>
      <vt:lpstr>Design and Simulation of Half Adder and Full Adder Using Logisim</vt:lpstr>
      <vt:lpstr>What is a Digital Adder?</vt:lpstr>
      <vt:lpstr>Basic Binary Addition</vt:lpstr>
      <vt:lpstr>Half Adder</vt:lpstr>
      <vt:lpstr>Half Adder Truth Table</vt:lpstr>
      <vt:lpstr>Half Adder Design in Logisim</vt:lpstr>
      <vt:lpstr>Full Adder</vt:lpstr>
      <vt:lpstr>Full Adder Truth Table</vt:lpstr>
      <vt:lpstr>Full Adder Design in Logisim</vt:lpstr>
      <vt:lpstr>Simulation in Logisim</vt:lpstr>
      <vt:lpstr>Half Adder vs Full Adder</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Simulation of Half Adder and Full Adder Using Logisim</dc:title>
  <dc:subject>PptxGenJS Presentation</dc:subject>
  <dc:creator>Project Team</dc:creator>
  <cp:lastModifiedBy>Bavirisetty Suhas</cp:lastModifiedBy>
  <cp:revision>8</cp:revision>
  <dcterms:created xsi:type="dcterms:W3CDTF">2026-10-05T04:55:53Z</dcterms:created>
  <dcterms:modified xsi:type="dcterms:W3CDTF">2026-10-15T07:23:05Z</dcterms:modified>
</cp:coreProperties>
</file>